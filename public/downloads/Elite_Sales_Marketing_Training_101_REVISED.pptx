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room. Set the rule clearly: we are here to install ONE system, not collect ideas.</a:t>
            </a:r>
          </a:p>
          <a:p/>
          <a:p>
            <a:r>
              <a:t>What to say: "Hey team. Welcome to 101. The point of today is simple. We are not adding more to your day. We are organizing the day you already have. By the end of this hour, you walk out with one system you can run starting Monday."</a:t>
            </a:r>
          </a:p>
          <a:p/>
          <a:p>
            <a:r>
              <a:t>Pause: After the welcome, give a 5 second beat before moving on.</a:t>
            </a:r>
          </a:p>
          <a:p/>
          <a:p>
            <a:r>
              <a:t>Listen for: nothing yet, this is the open.</a:t>
            </a:r>
          </a:p>
          <a:p/>
          <a:p>
            <a:r>
              <a:t>Mistake to avoid: do not promise outcomes. Do not promise production. Promise the system.</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"Most LOs in this room are not lazy. You are working hard. You are just scattered. Different leads from different places. Different scripts. Different follow up patterns. Some weeks five conversations a day. Other weeks zero. Sound familiar? That is the problem."</a:t>
            </a:r>
          </a:p>
          <a:p/>
          <a:p>
            <a:r>
              <a:t>Where to pause: short beat after "Sound familiar?" Let the room nod.</a:t>
            </a:r>
          </a:p>
          <a:p/>
          <a:p>
            <a:r>
              <a:t>Listen for: nothing yet, this is acknowledgement.</a:t>
            </a:r>
          </a:p>
          <a:p/>
          <a:p>
            <a:r>
              <a:t>Mistake to avoid: do not blame the LO. Acknowledge the work. Then name the system gap.</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"Here is the spine of everything we do in this series. Conversations create pipeline. Pipeline creates closings. Closings create referrals. Track the work that creates conversations. That is it. We will come back to this line all six sessions."</a:t>
            </a:r>
          </a:p>
          <a:p/>
          <a:p>
            <a:r>
              <a:t>Where to pause: read the chain slowly. Repeat it twice on purpose.</a:t>
            </a:r>
          </a:p>
          <a:p/>
          <a:p>
            <a:r>
              <a:t>Q&amp;A 1 question: What feels scattered in your current sales and marketing routine?</a:t>
            </a:r>
          </a:p>
          <a:p>
            <a:r>
              <a:t>Listen for: lead sources they cannot reach, follow up that goes silent at touch two, Realtors they have not spoken to in a month, no tracker (they are guessing).</a:t>
            </a:r>
          </a:p>
          <a:p/>
          <a:p>
            <a:r>
              <a:t>Mistake to avoid: do not let the room drift into venting. Steer answers back to the operating principle.</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"Two ways to work this job. Order taker. Advisor. Order takers quote a rate to a stranger and hope it sticks. Advisors get the goal, the timeline, and the plan first. Numbers come after the plan, not before. The whole series is built on the advisor path."</a:t>
            </a:r>
          </a:p>
          <a:p/>
          <a:p>
            <a:r>
              <a:t>Where to pause: no Q&amp;A pause here. Use the compliance reminder to close.</a:t>
            </a:r>
          </a:p>
          <a:p/>
          <a:p>
            <a:r>
              <a:t>Listen for: not applicable.</a:t>
            </a:r>
          </a:p>
          <a:p/>
          <a:p>
            <a:r>
              <a:t>Mistake to avoid: do not name competitor banks. Frame the trap as a habit fix, not a competitor fight.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"Loan Factory is a mortgage brokerage. Plain English. We have access to more than 240 wholesale lenders. That gives us choice, fit, and flexibility. We do not bash banks. We do not bash retail. We talk about what more options means for the borrower."</a:t>
            </a:r>
          </a:p>
          <a:p/>
          <a:p>
            <a:r>
              <a:t>Where to pause: after the Q&amp;A pause prompt.</a:t>
            </a:r>
          </a:p>
          <a:p/>
          <a:p>
            <a:r>
              <a:t>Q&amp;A 2 question: Can you explain the broker model in plain English without sounding salesy?</a:t>
            </a:r>
          </a:p>
          <a:p>
            <a:r>
              <a:t>Listen for: choice, fit, flexibility. No specific savings claim. No competitor bashing. Borrower benefit framed in plain language.</a:t>
            </a:r>
          </a:p>
          <a:p/>
          <a:p>
            <a:r>
              <a:t>Mistake to avoid: do not let anyone start a savings comparison number. Stay in plain language.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"The application link is not the relationship. A real conversation builds trust. A real conversation catches credit, income, and timeline issues you cannot see in the app. A real conversation creates a cleaner file at submission. Stop dropping links and walking away. Make the call first."</a:t>
            </a:r>
          </a:p>
          <a:p/>
          <a:p>
            <a:r>
              <a:t>Where to pause: after the Q&amp;A pause prompt.</a:t>
            </a:r>
          </a:p>
          <a:p/>
          <a:p>
            <a:r>
              <a:t>Q&amp;A 3 question: What happens when a borrower gets only a link and no real conversation?</a:t>
            </a:r>
          </a:p>
          <a:p>
            <a:r>
              <a:t>Listen for: they go quiet, missing documents, credit surprises late, shopping you with three other lenders.</a:t>
            </a:r>
          </a:p>
          <a:p/>
          <a:p>
            <a:r>
              <a:t>Mistake to avoid: do not turn this into an anti technology talk. The point is the conversation is the work.</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"Realtors do not refer based on rate sheets. They refer based on certainty. Speed. Communication. Clean pre approvals. Listing agent calls on every offer. Lead with usefulness. Find one specific thing about their business. Offer 15 minutes. Do not beg for referrals."</a:t>
            </a:r>
          </a:p>
          <a:p/>
          <a:p>
            <a:r>
              <a:t>Where to pause: after the Q&amp;A pause prompt.</a:t>
            </a:r>
          </a:p>
          <a:p/>
          <a:p>
            <a:r>
              <a:t>Q&amp;A 4 question: What would make a Realtor trust you enough to send one real buyer?</a:t>
            </a:r>
          </a:p>
          <a:p>
            <a:r>
              <a:t>Listen for: speed and responsiveness, clean pre approvals, listing agent calls, honest communication when things slip.</a:t>
            </a:r>
          </a:p>
          <a:p/>
          <a:p>
            <a:r>
              <a:t>Mistake to avoid: do not let LOs say "lower fees" or "better rates." Those are not the trust drivers. Steer back to certainty.</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"Confidence is process and clarity. Confidence is calm in the unknown. Confidence is a dated next step at the end of every call. Confidence is not overpromising. Confidence is not pretending you know what you do not know. Confidence is not quoting a rate to look smart."</a:t>
            </a:r>
          </a:p>
          <a:p/>
          <a:p>
            <a:r>
              <a:t>Where to pause: slow down on the four items. Then move to Q&amp;A 5.</a:t>
            </a:r>
          </a:p>
          <a:p/>
          <a:p>
            <a:r>
              <a:t>Q&amp;A 5 question: Where do new LOs sometimes confuse confidence with overpromising?</a:t>
            </a:r>
          </a:p>
          <a:p>
            <a:r>
              <a:t>Listen for: quoting a rate before underwriting, promising a closing day too early, telling a borrower the file is approved when only a soft pull happened, bashing competitors to sound strong.</a:t>
            </a:r>
          </a:p>
          <a:p/>
          <a:p>
            <a:r>
              <a:t>Mistake to avoid: do not make this a values lecture. Keep it concrete. Use real examples.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"If you do not track the week, you cannot coach the week. Track conversations per day. Past client touches per week. Partner touches per week. Follow ups sent and answered. A dated next step on every active file. That is the whole tracker."</a:t>
            </a:r>
          </a:p>
          <a:p/>
          <a:p>
            <a:r>
              <a:t>Where to pause: short beat after each input. Then move to Q&amp;A 6.</a:t>
            </a:r>
          </a:p>
          <a:p/>
          <a:p>
            <a:r>
              <a:t>Q&amp;A 6 question: What are the three activities you should track every week?</a:t>
            </a:r>
          </a:p>
          <a:p>
            <a:r>
              <a:t>Listen for: conversations, partner touches, and follow ups as the minimum. The full tracker also includes past client touches and content output.</a:t>
            </a:r>
          </a:p>
          <a:p/>
          <a:p>
            <a:r>
              <a:t>Mistake to avoid: do not let anyone over engineer the tracker today. Five inputs. Done.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"Here is the assignment. Run three borrower or referral partner conversations using the script. Log who you talked to. Log what happened. Log the next step. Bring one lesson learned back to the group next time. Three conversations. Three logs. One lesson."</a:t>
            </a:r>
          </a:p>
          <a:p/>
          <a:p>
            <a:r>
              <a:t>Closing line, repeat exactly: "The goal is not perfection. The goal is one clean conversation, one clear next step, and one tracked activity at a time."</a:t>
            </a:r>
          </a:p>
          <a:p/>
          <a:p>
            <a:r>
              <a:t>Where to pause: no Q&amp;A. Use remaining time for open Q&amp;A. End on time.</a:t>
            </a:r>
          </a:p>
          <a:p/>
          <a:p>
            <a:r>
              <a:t>Mistake to avoid: do not promise outcomes. Promise the system. End the room with one specific thing to do, not a feeling.</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rk-hero-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8172A">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777240"/>
            <a:ext cx="2194560" cy="320040"/>
          </a:xfrm>
          <a:prstGeom prst="roundRect">
            <a:avLst>
              <a:gd name="adj" fmla="val 50000"/>
            </a:avLst>
          </a:prstGeom>
          <a:solidFill>
            <a:srgbClr val="F26A1F"/>
          </a:solidFill>
          <a:ln>
            <a:noFill/>
          </a:ln>
        </p:spPr>
        <p:style>
          <a:lnRef idx="1">
            <a:schemeClr val="accent1"/>
          </a:lnRef>
          <a:fillRef idx="3">
            <a:schemeClr val="accent1"/>
          </a:fillRef>
          <a:effectRef idx="2">
            <a:schemeClr val="accent1"/>
          </a:effectRef>
          <a:fontRef idx="minor">
            <a:schemeClr val="lt1"/>
          </a:fontRef>
        </p:style>
        <p:txBody>
          <a:bodyPr rtlCol="0" anchor="ctr" lIns="76200" rIns="76200" tIns="25400" bIns="25400" wrap="square"/>
          <a:lstStyle/>
          <a:p>
            <a:pPr algn="ctr"/>
            <a:r>
              <a:rPr sz="1000" b="1">
                <a:solidFill>
                  <a:srgbClr val="FFFFFF"/>
                </a:solidFill>
                <a:latin typeface="Helvetica"/>
              </a:rPr>
              <a:t>LOAN FACTORY ELITE TRAINING</a:t>
            </a:r>
          </a:p>
        </p:txBody>
      </p:sp>
      <p:sp>
        <p:nvSpPr>
          <p:cNvPr id="5" name="TextBox 4"/>
          <p:cNvSpPr txBox="1"/>
          <p:nvPr/>
        </p:nvSpPr>
        <p:spPr>
          <a:xfrm>
            <a:off x="731520" y="1325880"/>
            <a:ext cx="7772400" cy="2377440"/>
          </a:xfrm>
          <a:prstGeom prst="rect">
            <a:avLst/>
          </a:prstGeom>
          <a:noFill/>
        </p:spPr>
        <p:txBody>
          <a:bodyPr wrap="square" lIns="0" rIns="0" tIns="0" bIns="0" anchor="t">
            <a:spAutoFit/>
          </a:bodyPr>
          <a:lstStyle/>
          <a:p>
            <a:pPr algn="l">
              <a:lnSpc>
                <a:spcPct val="115000"/>
              </a:lnSpc>
            </a:pPr>
            <a:r>
              <a:rPr sz="4800" b="1">
                <a:solidFill>
                  <a:srgbClr val="FFFFFF"/>
                </a:solidFill>
                <a:latin typeface="Helvetica"/>
              </a:rPr>
              <a:t>Elite Sales and Marketing</a:t>
            </a:r>
          </a:p>
          <a:p>
            <a:pPr algn="l">
              <a:lnSpc>
                <a:spcPct val="115000"/>
              </a:lnSpc>
            </a:pPr>
            <a:r>
              <a:rPr sz="4800" b="1">
                <a:solidFill>
                  <a:srgbClr val="F26A1F"/>
                </a:solidFill>
                <a:latin typeface="Helvetica"/>
              </a:rPr>
              <a:t>Training 101.</a:t>
            </a:r>
          </a:p>
        </p:txBody>
      </p:sp>
      <p:sp>
        <p:nvSpPr>
          <p:cNvPr id="6" name="TextBox 5"/>
          <p:cNvSpPr txBox="1"/>
          <p:nvPr/>
        </p:nvSpPr>
        <p:spPr>
          <a:xfrm>
            <a:off x="731520" y="3337560"/>
            <a:ext cx="7772400" cy="1463040"/>
          </a:xfrm>
          <a:prstGeom prst="rect">
            <a:avLst/>
          </a:prstGeom>
          <a:noFill/>
        </p:spPr>
        <p:txBody>
          <a:bodyPr wrap="square" lIns="0" rIns="0" tIns="0" bIns="0" anchor="t">
            <a:spAutoFit/>
          </a:bodyPr>
          <a:lstStyle/>
          <a:p>
            <a:pPr algn="l">
              <a:lnSpc>
                <a:spcPct val="115000"/>
              </a:lnSpc>
            </a:pPr>
            <a:r>
              <a:rPr sz="2400" b="1">
                <a:solidFill>
                  <a:srgbClr val="FFFFFF"/>
                </a:solidFill>
                <a:latin typeface="Helvetica"/>
              </a:rPr>
              <a:t>Mortgage Sales Foundation.</a:t>
            </a:r>
          </a:p>
          <a:p>
            <a:pPr algn="l">
              <a:lnSpc>
                <a:spcPct val="115000"/>
              </a:lnSpc>
            </a:pPr>
            <a:r>
              <a:rPr sz="1800" b="0">
                <a:solidFill>
                  <a:srgbClr val="E2E8F0"/>
                </a:solidFill>
                <a:latin typeface="Helvetica"/>
              </a:rPr>
              <a:t>From scattered activity to a simple weekly operating system.</a:t>
            </a:r>
          </a:p>
        </p:txBody>
      </p:sp>
      <p:sp>
        <p:nvSpPr>
          <p:cNvPr id="7" name="TextBox 6"/>
          <p:cNvSpPr txBox="1"/>
          <p:nvPr/>
        </p:nvSpPr>
        <p:spPr>
          <a:xfrm>
            <a:off x="731520" y="5120640"/>
            <a:ext cx="6858000" cy="365760"/>
          </a:xfrm>
          <a:prstGeom prst="rect">
            <a:avLst/>
          </a:prstGeom>
          <a:noFill/>
        </p:spPr>
        <p:txBody>
          <a:bodyPr wrap="square" lIns="0" rIns="0" tIns="0" bIns="0" anchor="t">
            <a:spAutoFit/>
          </a:bodyPr>
          <a:lstStyle/>
          <a:p>
            <a:pPr algn="l">
              <a:lnSpc>
                <a:spcPct val="115000"/>
              </a:lnSpc>
            </a:pPr>
            <a:r>
              <a:rPr sz="1100" b="1">
                <a:solidFill>
                  <a:srgbClr val="F26A1F"/>
                </a:solidFill>
                <a:latin typeface="Helvetica"/>
              </a:rPr>
              <a:t>SESSION 1 OF 6   .   BUILDING YOUR FOUNDATION   .   FOR NEW AND EXPERIENCED LOs</a:t>
            </a:r>
          </a:p>
        </p:txBody>
      </p:sp>
      <p:sp>
        <p:nvSpPr>
          <p:cNvPr id="8" name="Rounded Rectangle 7"/>
          <p:cNvSpPr/>
          <p:nvPr/>
        </p:nvSpPr>
        <p:spPr>
          <a:xfrm>
            <a:off x="8778240" y="1371600"/>
            <a:ext cx="2743200" cy="3657600"/>
          </a:xfrm>
          <a:prstGeom prst="roundRect">
            <a:avLst>
              <a:gd name="adj" fmla="val 4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lite-sales-marketing-training-logo.png"/>
          <p:cNvPicPr>
            <a:picLocks noChangeAspect="1"/>
          </p:cNvPicPr>
          <p:nvPr/>
        </p:nvPicPr>
        <p:blipFill>
          <a:blip r:embed="rId3"/>
          <a:stretch>
            <a:fillRect/>
          </a:stretch>
        </p:blipFill>
        <p:spPr>
          <a:xfrm>
            <a:off x="9189720" y="1691640"/>
            <a:ext cx="1828800" cy="1828800"/>
          </a:xfrm>
          <a:prstGeom prst="rect">
            <a:avLst/>
          </a:prstGeom>
        </p:spPr>
      </p:pic>
      <p:sp>
        <p:nvSpPr>
          <p:cNvPr id="10" name="Rectangle 9"/>
          <p:cNvSpPr/>
          <p:nvPr/>
        </p:nvSpPr>
        <p:spPr>
          <a:xfrm>
            <a:off x="9692640" y="3657600"/>
            <a:ext cx="914400" cy="25400"/>
          </a:xfrm>
          <a:prstGeom prst="rect">
            <a:avLst/>
          </a:prstGeom>
          <a:solidFill>
            <a:srgbClr val="F26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oan-factory-logo-transparent.png"/>
          <p:cNvPicPr>
            <a:picLocks noChangeAspect="1"/>
          </p:cNvPicPr>
          <p:nvPr/>
        </p:nvPicPr>
        <p:blipFill>
          <a:blip r:embed="rId4"/>
          <a:stretch>
            <a:fillRect/>
          </a:stretch>
        </p:blipFill>
        <p:spPr>
          <a:xfrm>
            <a:off x="9189720" y="3931920"/>
            <a:ext cx="2468880" cy="822960"/>
          </a:xfrm>
          <a:prstGeom prst="rect">
            <a:avLst/>
          </a:prstGeom>
        </p:spPr>
      </p:pic>
      <p:sp>
        <p:nvSpPr>
          <p:cNvPr id="12" name="TextBox 11"/>
          <p:cNvSpPr txBox="1"/>
          <p:nvPr/>
        </p:nvSpPr>
        <p:spPr>
          <a:xfrm>
            <a:off x="8778240" y="4892040"/>
            <a:ext cx="2743200" cy="320040"/>
          </a:xfrm>
          <a:prstGeom prst="rect">
            <a:avLst/>
          </a:prstGeom>
          <a:noFill/>
        </p:spPr>
        <p:txBody>
          <a:bodyPr wrap="square" lIns="0" rIns="0" tIns="0" bIns="0" anchor="t">
            <a:spAutoFit/>
          </a:bodyPr>
          <a:lstStyle/>
          <a:p>
            <a:pPr algn="ctr">
              <a:lnSpc>
                <a:spcPct val="115000"/>
              </a:lnSpc>
            </a:pPr>
            <a:r>
              <a:rPr sz="800" b="1">
                <a:solidFill>
                  <a:srgbClr val="475569"/>
                </a:solidFill>
                <a:latin typeface="Helvetica"/>
              </a:rPr>
              <a:t>ELITE TRAINING IN PARTNERSHIP WITH LOAN FACTORY</a:t>
            </a:r>
          </a:p>
        </p:txBody>
      </p:sp>
      <p:sp>
        <p:nvSpPr>
          <p:cNvPr id="13" name="TextBox 12"/>
          <p:cNvSpPr txBox="1"/>
          <p:nvPr/>
        </p:nvSpPr>
        <p:spPr>
          <a:xfrm>
            <a:off x="457200" y="6446520"/>
            <a:ext cx="11277295" cy="320040"/>
          </a:xfrm>
          <a:prstGeom prst="rect">
            <a:avLst/>
          </a:prstGeom>
          <a:noFill/>
        </p:spPr>
        <p:txBody>
          <a:bodyPr wrap="none" lIns="0" rIns="0" tIns="0" bIns="0">
            <a:spAutoFit/>
          </a:bodyPr>
          <a:lstStyle/>
          <a:p>
            <a:pPr algn="l"/>
            <a:r>
              <a:rPr sz="900">
                <a:solidFill>
                  <a:srgbClr val="FFFFFF"/>
                </a:solidFill>
                <a:latin typeface="Helvetica"/>
              </a:rPr>
              <a:t>Elite Sales and Marketing Training 101  |  Mortgage Sales Foundation  |  Internal training only</a:t>
            </a:r>
          </a:p>
        </p:txBody>
      </p:sp>
      <p:sp>
        <p:nvSpPr>
          <p:cNvPr id="14" name="TextBox 13"/>
          <p:cNvSpPr txBox="1"/>
          <p:nvPr/>
        </p:nvSpPr>
        <p:spPr>
          <a:xfrm>
            <a:off x="10789920" y="6446520"/>
            <a:ext cx="1371600" cy="320040"/>
          </a:xfrm>
          <a:prstGeom prst="rect">
            <a:avLst/>
          </a:prstGeom>
          <a:noFill/>
        </p:spPr>
        <p:txBody>
          <a:bodyPr wrap="none" lIns="0" rIns="0" tIns="0" bIns="0">
            <a:spAutoFit/>
          </a:bodyPr>
          <a:lstStyle/>
          <a:p>
            <a:pPr algn="r"/>
            <a:r>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02920"/>
            <a:ext cx="731520" cy="38100"/>
          </a:xfrm>
          <a:prstGeom prst="rect">
            <a:avLst/>
          </a:prstGeom>
          <a:solidFill>
            <a:srgbClr val="F26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5486400" cy="320040"/>
          </a:xfrm>
          <a:prstGeom prst="rect">
            <a:avLst/>
          </a:prstGeom>
          <a:noFill/>
        </p:spPr>
        <p:txBody>
          <a:bodyPr wrap="square" lIns="0" rIns="0" tIns="0" bIns="0" anchor="t">
            <a:spAutoFit/>
          </a:bodyPr>
          <a:lstStyle/>
          <a:p>
            <a:pPr algn="l">
              <a:lnSpc>
                <a:spcPct val="115000"/>
              </a:lnSpc>
            </a:pPr>
            <a:r>
              <a:rPr sz="1100" b="1">
                <a:solidFill>
                  <a:srgbClr val="F26A1F"/>
                </a:solidFill>
                <a:latin typeface="Helvetica"/>
              </a:rPr>
              <a:t>THE REAL PROBLEM</a:t>
            </a:r>
          </a:p>
        </p:txBody>
      </p:sp>
      <p:sp>
        <p:nvSpPr>
          <p:cNvPr id="5" name="TextBox 4"/>
          <p:cNvSpPr txBox="1"/>
          <p:nvPr/>
        </p:nvSpPr>
        <p:spPr>
          <a:xfrm>
            <a:off x="731520" y="1005840"/>
            <a:ext cx="10698480" cy="1371600"/>
          </a:xfrm>
          <a:prstGeom prst="rect">
            <a:avLst/>
          </a:prstGeom>
          <a:noFill/>
        </p:spPr>
        <p:txBody>
          <a:bodyPr wrap="square" lIns="0" rIns="0" tIns="0" bIns="0" anchor="t">
            <a:spAutoFit/>
          </a:bodyPr>
          <a:lstStyle/>
          <a:p>
            <a:pPr algn="l">
              <a:lnSpc>
                <a:spcPct val="115000"/>
              </a:lnSpc>
            </a:pPr>
            <a:r>
              <a:rPr sz="3600" b="1">
                <a:solidFill>
                  <a:srgbClr val="0B1F3A"/>
                </a:solidFill>
                <a:latin typeface="Helvetica"/>
              </a:rPr>
              <a:t>Most LOs are not lazy.</a:t>
            </a:r>
          </a:p>
          <a:p>
            <a:pPr algn="l">
              <a:lnSpc>
                <a:spcPct val="115000"/>
              </a:lnSpc>
            </a:pPr>
            <a:r>
              <a:rPr sz="3600" b="1">
                <a:solidFill>
                  <a:srgbClr val="F26A1F"/>
                </a:solidFill>
                <a:latin typeface="Helvetica"/>
              </a:rPr>
              <a:t>They are scattered.</a:t>
            </a:r>
          </a:p>
        </p:txBody>
      </p:sp>
      <p:sp>
        <p:nvSpPr>
          <p:cNvPr id="6" name="TextBox 5"/>
          <p:cNvSpPr txBox="1"/>
          <p:nvPr/>
        </p:nvSpPr>
        <p:spPr>
          <a:xfrm>
            <a:off x="731520" y="2606040"/>
            <a:ext cx="10698480" cy="914400"/>
          </a:xfrm>
          <a:prstGeom prst="rect">
            <a:avLst/>
          </a:prstGeom>
          <a:noFill/>
        </p:spPr>
        <p:txBody>
          <a:bodyPr wrap="square" lIns="0" rIns="0" tIns="0" bIns="0" anchor="t">
            <a:spAutoFit/>
          </a:bodyPr>
          <a:lstStyle/>
          <a:p>
            <a:pPr algn="l">
              <a:lnSpc>
                <a:spcPct val="115000"/>
              </a:lnSpc>
            </a:pPr>
            <a:r>
              <a:rPr sz="1500" b="0">
                <a:solidFill>
                  <a:srgbClr val="1F2937"/>
                </a:solidFill>
                <a:latin typeface="Helvetica"/>
              </a:rPr>
              <a:t>The problem is not effort. The problem is direction. Scattered activity creates inconsistent results no matter how hard you work. Motivation alone will not fix a system problem.</a:t>
            </a:r>
          </a:p>
        </p:txBody>
      </p:sp>
      <p:sp>
        <p:nvSpPr>
          <p:cNvPr id="7" name="Rounded Rectangle 6"/>
          <p:cNvSpPr/>
          <p:nvPr/>
        </p:nvSpPr>
        <p:spPr>
          <a:xfrm>
            <a:off x="731520" y="3794760"/>
            <a:ext cx="3520440" cy="2103120"/>
          </a:xfrm>
          <a:prstGeom prst="roundRect">
            <a:avLst>
              <a:gd name="adj" fmla="val 4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023360"/>
            <a:ext cx="1097280" cy="457200"/>
          </a:xfrm>
          <a:prstGeom prst="rect">
            <a:avLst/>
          </a:prstGeom>
          <a:noFill/>
        </p:spPr>
        <p:txBody>
          <a:bodyPr wrap="square" lIns="0" rIns="0" tIns="0" bIns="0" anchor="t">
            <a:spAutoFit/>
          </a:bodyPr>
          <a:lstStyle/>
          <a:p>
            <a:pPr algn="l">
              <a:lnSpc>
                <a:spcPct val="115000"/>
              </a:lnSpc>
            </a:pPr>
            <a:r>
              <a:rPr sz="1400" b="1">
                <a:solidFill>
                  <a:srgbClr val="F26A1F"/>
                </a:solidFill>
                <a:latin typeface="Helvetica"/>
              </a:rPr>
              <a:t>01</a:t>
            </a:r>
          </a:p>
        </p:txBody>
      </p:sp>
      <p:sp>
        <p:nvSpPr>
          <p:cNvPr id="9" name="TextBox 8"/>
          <p:cNvSpPr txBox="1"/>
          <p:nvPr/>
        </p:nvSpPr>
        <p:spPr>
          <a:xfrm>
            <a:off x="1005840" y="4434840"/>
            <a:ext cx="2971800" cy="502920"/>
          </a:xfrm>
          <a:prstGeom prst="rect">
            <a:avLst/>
          </a:prstGeom>
          <a:noFill/>
        </p:spPr>
        <p:txBody>
          <a:bodyPr wrap="square" lIns="0" rIns="0" tIns="0" bIns="0" anchor="t">
            <a:spAutoFit/>
          </a:bodyPr>
          <a:lstStyle/>
          <a:p>
            <a:pPr algn="l">
              <a:lnSpc>
                <a:spcPct val="115000"/>
              </a:lnSpc>
            </a:pPr>
            <a:r>
              <a:rPr sz="1800" b="1">
                <a:solidFill>
                  <a:srgbClr val="0B1F3A"/>
                </a:solidFill>
                <a:latin typeface="Helvetica"/>
              </a:rPr>
              <a:t>Inconsistent Inputs</a:t>
            </a:r>
          </a:p>
        </p:txBody>
      </p:sp>
      <p:sp>
        <p:nvSpPr>
          <p:cNvPr id="10" name="TextBox 9"/>
          <p:cNvSpPr txBox="1"/>
          <p:nvPr/>
        </p:nvSpPr>
        <p:spPr>
          <a:xfrm>
            <a:off x="1005840" y="4983480"/>
            <a:ext cx="2971800" cy="868680"/>
          </a:xfrm>
          <a:prstGeom prst="rect">
            <a:avLst/>
          </a:prstGeom>
          <a:noFill/>
        </p:spPr>
        <p:txBody>
          <a:bodyPr wrap="square" lIns="0" rIns="0" tIns="0" bIns="0" anchor="t">
            <a:spAutoFit/>
          </a:bodyPr>
          <a:lstStyle/>
          <a:p>
            <a:pPr algn="l">
              <a:lnSpc>
                <a:spcPct val="115000"/>
              </a:lnSpc>
            </a:pPr>
            <a:r>
              <a:rPr sz="1200" b="0">
                <a:solidFill>
                  <a:srgbClr val="1F2937"/>
                </a:solidFill>
                <a:latin typeface="Helvetica"/>
              </a:rPr>
              <a:t>Random outreach with no rhythm or cadence. Some weeks five conversations a day. Other weeks zero.</a:t>
            </a:r>
          </a:p>
        </p:txBody>
      </p:sp>
      <p:sp>
        <p:nvSpPr>
          <p:cNvPr id="11" name="Rounded Rectangle 10"/>
          <p:cNvSpPr/>
          <p:nvPr/>
        </p:nvSpPr>
        <p:spPr>
          <a:xfrm>
            <a:off x="4434840" y="3794760"/>
            <a:ext cx="3520440" cy="2103120"/>
          </a:xfrm>
          <a:prstGeom prst="roundRect">
            <a:avLst>
              <a:gd name="adj" fmla="val 4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4023360"/>
            <a:ext cx="1097280" cy="457200"/>
          </a:xfrm>
          <a:prstGeom prst="rect">
            <a:avLst/>
          </a:prstGeom>
          <a:noFill/>
        </p:spPr>
        <p:txBody>
          <a:bodyPr wrap="square" lIns="0" rIns="0" tIns="0" bIns="0" anchor="t">
            <a:spAutoFit/>
          </a:bodyPr>
          <a:lstStyle/>
          <a:p>
            <a:pPr algn="l">
              <a:lnSpc>
                <a:spcPct val="115000"/>
              </a:lnSpc>
            </a:pPr>
            <a:r>
              <a:rPr sz="1400" b="1">
                <a:solidFill>
                  <a:srgbClr val="F26A1F"/>
                </a:solidFill>
                <a:latin typeface="Helvetica"/>
              </a:rPr>
              <a:t>02</a:t>
            </a:r>
          </a:p>
        </p:txBody>
      </p:sp>
      <p:sp>
        <p:nvSpPr>
          <p:cNvPr id="13" name="TextBox 12"/>
          <p:cNvSpPr txBox="1"/>
          <p:nvPr/>
        </p:nvSpPr>
        <p:spPr>
          <a:xfrm>
            <a:off x="4709160" y="4434840"/>
            <a:ext cx="2971800" cy="502920"/>
          </a:xfrm>
          <a:prstGeom prst="rect">
            <a:avLst/>
          </a:prstGeom>
          <a:noFill/>
        </p:spPr>
        <p:txBody>
          <a:bodyPr wrap="square" lIns="0" rIns="0" tIns="0" bIns="0" anchor="t">
            <a:spAutoFit/>
          </a:bodyPr>
          <a:lstStyle/>
          <a:p>
            <a:pPr algn="l">
              <a:lnSpc>
                <a:spcPct val="115000"/>
              </a:lnSpc>
            </a:pPr>
            <a:r>
              <a:rPr sz="1800" b="1">
                <a:solidFill>
                  <a:srgbClr val="0B1F3A"/>
                </a:solidFill>
                <a:latin typeface="Helvetica"/>
              </a:rPr>
              <a:t>No Tracking</a:t>
            </a:r>
          </a:p>
        </p:txBody>
      </p:sp>
      <p:sp>
        <p:nvSpPr>
          <p:cNvPr id="14" name="TextBox 13"/>
          <p:cNvSpPr txBox="1"/>
          <p:nvPr/>
        </p:nvSpPr>
        <p:spPr>
          <a:xfrm>
            <a:off x="4709160" y="4983480"/>
            <a:ext cx="2971800" cy="868680"/>
          </a:xfrm>
          <a:prstGeom prst="rect">
            <a:avLst/>
          </a:prstGeom>
          <a:noFill/>
        </p:spPr>
        <p:txBody>
          <a:bodyPr wrap="square" lIns="0" rIns="0" tIns="0" bIns="0" anchor="t">
            <a:spAutoFit/>
          </a:bodyPr>
          <a:lstStyle/>
          <a:p>
            <a:pPr algn="l">
              <a:lnSpc>
                <a:spcPct val="115000"/>
              </a:lnSpc>
            </a:pPr>
            <a:r>
              <a:rPr sz="1200" b="0">
                <a:solidFill>
                  <a:srgbClr val="1F2937"/>
                </a:solidFill>
                <a:latin typeface="Helvetica"/>
              </a:rPr>
              <a:t>No visibility into what is actually working. You cannot coach the week if you cannot see the week.</a:t>
            </a:r>
          </a:p>
        </p:txBody>
      </p:sp>
      <p:sp>
        <p:nvSpPr>
          <p:cNvPr id="15" name="Rounded Rectangle 14"/>
          <p:cNvSpPr/>
          <p:nvPr/>
        </p:nvSpPr>
        <p:spPr>
          <a:xfrm>
            <a:off x="8138160" y="3794760"/>
            <a:ext cx="3520440" cy="2103120"/>
          </a:xfrm>
          <a:prstGeom prst="roundRect">
            <a:avLst>
              <a:gd name="adj" fmla="val 4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4023360"/>
            <a:ext cx="1097280" cy="457200"/>
          </a:xfrm>
          <a:prstGeom prst="rect">
            <a:avLst/>
          </a:prstGeom>
          <a:noFill/>
        </p:spPr>
        <p:txBody>
          <a:bodyPr wrap="square" lIns="0" rIns="0" tIns="0" bIns="0" anchor="t">
            <a:spAutoFit/>
          </a:bodyPr>
          <a:lstStyle/>
          <a:p>
            <a:pPr algn="l">
              <a:lnSpc>
                <a:spcPct val="115000"/>
              </a:lnSpc>
            </a:pPr>
            <a:r>
              <a:rPr sz="1400" b="1">
                <a:solidFill>
                  <a:srgbClr val="F26A1F"/>
                </a:solidFill>
                <a:latin typeface="Helvetica"/>
              </a:rPr>
              <a:t>03</a:t>
            </a:r>
          </a:p>
        </p:txBody>
      </p:sp>
      <p:sp>
        <p:nvSpPr>
          <p:cNvPr id="17" name="TextBox 16"/>
          <p:cNvSpPr txBox="1"/>
          <p:nvPr/>
        </p:nvSpPr>
        <p:spPr>
          <a:xfrm>
            <a:off x="8412480" y="4434840"/>
            <a:ext cx="2971800" cy="502920"/>
          </a:xfrm>
          <a:prstGeom prst="rect">
            <a:avLst/>
          </a:prstGeom>
          <a:noFill/>
        </p:spPr>
        <p:txBody>
          <a:bodyPr wrap="square" lIns="0" rIns="0" tIns="0" bIns="0" anchor="t">
            <a:spAutoFit/>
          </a:bodyPr>
          <a:lstStyle/>
          <a:p>
            <a:pPr algn="l">
              <a:lnSpc>
                <a:spcPct val="115000"/>
              </a:lnSpc>
            </a:pPr>
            <a:r>
              <a:rPr sz="1800" b="1">
                <a:solidFill>
                  <a:srgbClr val="0B1F3A"/>
                </a:solidFill>
                <a:latin typeface="Helvetica"/>
              </a:rPr>
              <a:t>No System</a:t>
            </a:r>
          </a:p>
        </p:txBody>
      </p:sp>
      <p:sp>
        <p:nvSpPr>
          <p:cNvPr id="18" name="TextBox 17"/>
          <p:cNvSpPr txBox="1"/>
          <p:nvPr/>
        </p:nvSpPr>
        <p:spPr>
          <a:xfrm>
            <a:off x="8412480" y="4983480"/>
            <a:ext cx="2971800" cy="868680"/>
          </a:xfrm>
          <a:prstGeom prst="rect">
            <a:avLst/>
          </a:prstGeom>
          <a:noFill/>
        </p:spPr>
        <p:txBody>
          <a:bodyPr wrap="square" lIns="0" rIns="0" tIns="0" bIns="0" anchor="t">
            <a:spAutoFit/>
          </a:bodyPr>
          <a:lstStyle/>
          <a:p>
            <a:pPr algn="l">
              <a:lnSpc>
                <a:spcPct val="115000"/>
              </a:lnSpc>
            </a:pPr>
            <a:r>
              <a:rPr sz="1200" b="0">
                <a:solidFill>
                  <a:srgbClr val="1F2937"/>
                </a:solidFill>
                <a:latin typeface="Helvetica"/>
              </a:rPr>
              <a:t>Reacting to the week instead of running it. The fix is one simple operating rhythm you can run any day.</a:t>
            </a:r>
          </a:p>
        </p:txBody>
      </p:sp>
      <p:sp>
        <p:nvSpPr>
          <p:cNvPr id="19" name="TextBox 18"/>
          <p:cNvSpPr txBox="1"/>
          <p:nvPr/>
        </p:nvSpPr>
        <p:spPr>
          <a:xfrm>
            <a:off x="731520" y="6080760"/>
            <a:ext cx="10698480" cy="365760"/>
          </a:xfrm>
          <a:prstGeom prst="rect">
            <a:avLst/>
          </a:prstGeom>
          <a:noFill/>
        </p:spPr>
        <p:txBody>
          <a:bodyPr wrap="square" lIns="0" rIns="0" tIns="0" bIns="0" anchor="t">
            <a:spAutoFit/>
          </a:bodyPr>
          <a:lstStyle/>
          <a:p>
            <a:pPr algn="l">
              <a:lnSpc>
                <a:spcPct val="115000"/>
              </a:lnSpc>
            </a:pPr>
            <a:r>
              <a:rPr sz="1200" b="1">
                <a:solidFill>
                  <a:srgbClr val="0B1F3A"/>
                </a:solidFill>
                <a:latin typeface="Helvetica"/>
              </a:rPr>
              <a:t>101 is the system. It is simple by design. We are not here to push harder. We are here to organize.</a:t>
            </a:r>
          </a:p>
        </p:txBody>
      </p:sp>
      <p:sp>
        <p:nvSpPr>
          <p:cNvPr id="20" name="TextBox 19"/>
          <p:cNvSpPr txBox="1"/>
          <p:nvPr/>
        </p:nvSpPr>
        <p:spPr>
          <a:xfrm>
            <a:off x="457200" y="6446520"/>
            <a:ext cx="11277295" cy="320040"/>
          </a:xfrm>
          <a:prstGeom prst="rect">
            <a:avLst/>
          </a:prstGeom>
          <a:noFill/>
        </p:spPr>
        <p:txBody>
          <a:bodyPr wrap="none" lIns="0" rIns="0" tIns="0" bIns="0">
            <a:spAutoFit/>
          </a:bodyPr>
          <a:lstStyle/>
          <a:p>
            <a:pPr algn="l"/>
            <a:r>
              <a:rPr sz="900">
                <a:solidFill>
                  <a:srgbClr val="475569"/>
                </a:solidFill>
                <a:latin typeface="Helvetica"/>
              </a:rPr>
              <a:t>Elite Sales and Marketing Training 101  |  Mortgage Sales Foundation  |  Internal training only</a:t>
            </a:r>
          </a:p>
        </p:txBody>
      </p:sp>
      <p:sp>
        <p:nvSpPr>
          <p:cNvPr id="21" name="TextBox 20"/>
          <p:cNvSpPr txBox="1"/>
          <p:nvPr/>
        </p:nvSpPr>
        <p:spPr>
          <a:xfrm>
            <a:off x="10789920" y="6446520"/>
            <a:ext cx="1371600" cy="320040"/>
          </a:xfrm>
          <a:prstGeom prst="rect">
            <a:avLst/>
          </a:prstGeom>
          <a:noFill/>
        </p:spPr>
        <p:txBody>
          <a:bodyPr wrap="none" lIns="0" rIns="0" tIns="0" bIns="0">
            <a:spAutoFit/>
          </a:bodyPr>
          <a:lstStyle/>
          <a:p>
            <a:pPr algn="r"/>
            <a: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rk-hero-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8172A">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502920"/>
            <a:ext cx="731520" cy="38100"/>
          </a:xfrm>
          <a:prstGeom prst="rect">
            <a:avLst/>
          </a:prstGeom>
          <a:solidFill>
            <a:srgbClr val="F26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
            <a:ext cx="7315200" cy="320040"/>
          </a:xfrm>
          <a:prstGeom prst="rect">
            <a:avLst/>
          </a:prstGeom>
          <a:noFill/>
        </p:spPr>
        <p:txBody>
          <a:bodyPr wrap="square" lIns="0" rIns="0" tIns="0" bIns="0" anchor="t">
            <a:spAutoFit/>
          </a:bodyPr>
          <a:lstStyle/>
          <a:p>
            <a:pPr algn="l">
              <a:lnSpc>
                <a:spcPct val="115000"/>
              </a:lnSpc>
            </a:pPr>
            <a:r>
              <a:rPr sz="1100" b="1">
                <a:solidFill>
                  <a:srgbClr val="F26A1F"/>
                </a:solidFill>
                <a:latin typeface="Helvetica"/>
              </a:rPr>
              <a:t>THE 101 OPERATING PRINCIPLE</a:t>
            </a:r>
          </a:p>
        </p:txBody>
      </p:sp>
      <p:sp>
        <p:nvSpPr>
          <p:cNvPr id="6" name="TextBox 5"/>
          <p:cNvSpPr txBox="1"/>
          <p:nvPr/>
        </p:nvSpPr>
        <p:spPr>
          <a:xfrm>
            <a:off x="731520" y="1005840"/>
            <a:ext cx="10698480" cy="1097280"/>
          </a:xfrm>
          <a:prstGeom prst="rect">
            <a:avLst/>
          </a:prstGeom>
          <a:noFill/>
        </p:spPr>
        <p:txBody>
          <a:bodyPr wrap="square" lIns="0" rIns="0" tIns="0" bIns="0" anchor="t">
            <a:spAutoFit/>
          </a:bodyPr>
          <a:lstStyle/>
          <a:p>
            <a:pPr algn="l">
              <a:lnSpc>
                <a:spcPct val="115000"/>
              </a:lnSpc>
            </a:pPr>
            <a:r>
              <a:rPr sz="4000" b="1">
                <a:solidFill>
                  <a:srgbClr val="FFFFFF"/>
                </a:solidFill>
                <a:latin typeface="Helvetica"/>
              </a:rPr>
              <a:t>Conversations create </a:t>
            </a:r>
          </a:p>
        </p:txBody>
      </p:sp>
      <p:sp>
        <p:nvSpPr>
          <p:cNvPr id="7" name="TextBox 6"/>
          <p:cNvSpPr txBox="1"/>
          <p:nvPr/>
        </p:nvSpPr>
        <p:spPr>
          <a:xfrm>
            <a:off x="731520" y="1554480"/>
            <a:ext cx="10698480" cy="1097280"/>
          </a:xfrm>
          <a:prstGeom prst="rect">
            <a:avLst/>
          </a:prstGeom>
          <a:noFill/>
        </p:spPr>
        <p:txBody>
          <a:bodyPr wrap="square" lIns="0" rIns="0" tIns="0" bIns="0" anchor="t">
            <a:spAutoFit/>
          </a:bodyPr>
          <a:lstStyle/>
          <a:p>
            <a:pPr algn="l">
              <a:lnSpc>
                <a:spcPct val="115000"/>
              </a:lnSpc>
            </a:pPr>
            <a:r>
              <a:rPr sz="4000" b="1">
                <a:solidFill>
                  <a:srgbClr val="F26A1F"/>
                </a:solidFill>
                <a:latin typeface="Helvetica"/>
              </a:rPr>
              <a:t>everything.</a:t>
            </a:r>
          </a:p>
        </p:txBody>
      </p:sp>
      <p:sp>
        <p:nvSpPr>
          <p:cNvPr id="8" name="TextBox 7"/>
          <p:cNvSpPr txBox="1"/>
          <p:nvPr/>
        </p:nvSpPr>
        <p:spPr>
          <a:xfrm>
            <a:off x="731520" y="2606040"/>
            <a:ext cx="10698480" cy="548640"/>
          </a:xfrm>
          <a:prstGeom prst="rect">
            <a:avLst/>
          </a:prstGeom>
          <a:noFill/>
        </p:spPr>
        <p:txBody>
          <a:bodyPr wrap="square" lIns="0" rIns="0" tIns="0" bIns="0" anchor="t">
            <a:spAutoFit/>
          </a:bodyPr>
          <a:lstStyle/>
          <a:p>
            <a:pPr algn="l">
              <a:lnSpc>
                <a:spcPct val="115000"/>
              </a:lnSpc>
            </a:pPr>
            <a:r>
              <a:rPr sz="1400" b="0">
                <a:solidFill>
                  <a:srgbClr val="FFFFFF"/>
                </a:solidFill>
                <a:latin typeface="Helvetica"/>
              </a:rPr>
              <a:t>This is the spine of the entire series. Every result traces back to one thing. A real conversation.</a:t>
            </a:r>
          </a:p>
        </p:txBody>
      </p:sp>
      <p:sp>
        <p:nvSpPr>
          <p:cNvPr id="9" name="Rounded Rectangle 8"/>
          <p:cNvSpPr/>
          <p:nvPr/>
        </p:nvSpPr>
        <p:spPr>
          <a:xfrm>
            <a:off x="1020927" y="3520440"/>
            <a:ext cx="2331720" cy="1097280"/>
          </a:xfrm>
          <a:prstGeom prst="roundRect">
            <a:avLst>
              <a:gd name="adj" fmla="val 12000"/>
            </a:avLst>
          </a:prstGeom>
          <a:solidFill>
            <a:srgbClr val="F26A1F"/>
          </a:solidFill>
          <a:ln w="19050">
            <a:solidFill>
              <a:srgbClr val="F26A1F"/>
            </a:solid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01600" bIns="101600"/>
          <a:lstStyle/>
          <a:p>
            <a:pPr algn="ctr"/>
            <a:r>
              <a:rPr sz="1800" b="1">
                <a:solidFill>
                  <a:srgbClr val="FFFFFF"/>
                </a:solidFill>
                <a:latin typeface="Helvetica"/>
              </a:rPr>
              <a:t>Conversations</a:t>
            </a:r>
          </a:p>
          <a:p>
            <a:pPr algn="ctr">
              <a:spcBef>
                <a:spcPts val="200"/>
              </a:spcBef>
            </a:pPr>
            <a:r>
              <a:rPr sz="1000">
                <a:solidFill>
                  <a:srgbClr val="E2E8F0"/>
                </a:solidFill>
                <a:latin typeface="Helvetica"/>
              </a:rPr>
              <a:t>Start real, intentional conversations</a:t>
            </a:r>
          </a:p>
        </p:txBody>
      </p:sp>
      <p:sp>
        <p:nvSpPr>
          <p:cNvPr id="10" name="Right Arrow 9"/>
          <p:cNvSpPr/>
          <p:nvPr/>
        </p:nvSpPr>
        <p:spPr>
          <a:xfrm>
            <a:off x="3352647" y="3931920"/>
            <a:ext cx="274320" cy="274320"/>
          </a:xfrm>
          <a:prstGeom prst="rightArrow">
            <a:avLst/>
          </a:prstGeom>
          <a:solidFill>
            <a:srgbClr val="F26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626967" y="3520440"/>
            <a:ext cx="2331720" cy="1097280"/>
          </a:xfrm>
          <a:prstGeom prst="roundRect">
            <a:avLst>
              <a:gd name="adj" fmla="val 12000"/>
            </a:avLst>
          </a:prstGeom>
          <a:solidFill>
            <a:srgbClr val="0B1F3A"/>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01600" bIns="101600"/>
          <a:lstStyle/>
          <a:p>
            <a:pPr algn="ctr"/>
            <a:r>
              <a:rPr sz="1800" b="1">
                <a:solidFill>
                  <a:srgbClr val="FFFFFF"/>
                </a:solidFill>
                <a:latin typeface="Helvetica"/>
              </a:rPr>
              <a:t>Pipeline</a:t>
            </a:r>
          </a:p>
          <a:p>
            <a:pPr algn="ctr">
              <a:spcBef>
                <a:spcPts val="200"/>
              </a:spcBef>
            </a:pPr>
            <a:r>
              <a:rPr sz="1000">
                <a:solidFill>
                  <a:srgbClr val="E2E8F0"/>
                </a:solidFill>
                <a:latin typeface="Helvetica"/>
              </a:rPr>
              <a:t>Capture prospects and opportunities</a:t>
            </a:r>
          </a:p>
        </p:txBody>
      </p:sp>
      <p:sp>
        <p:nvSpPr>
          <p:cNvPr id="12" name="Right Arrow 11"/>
          <p:cNvSpPr/>
          <p:nvPr/>
        </p:nvSpPr>
        <p:spPr>
          <a:xfrm>
            <a:off x="5958687" y="3931920"/>
            <a:ext cx="274320" cy="274320"/>
          </a:xfrm>
          <a:prstGeom prst="rightArrow">
            <a:avLst/>
          </a:prstGeom>
          <a:solidFill>
            <a:srgbClr val="F26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33007" y="3520440"/>
            <a:ext cx="2331720" cy="1097280"/>
          </a:xfrm>
          <a:prstGeom prst="roundRect">
            <a:avLst>
              <a:gd name="adj" fmla="val 12000"/>
            </a:avLst>
          </a:prstGeom>
          <a:solidFill>
            <a:srgbClr val="0B1F3A"/>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01600" bIns="101600"/>
          <a:lstStyle/>
          <a:p>
            <a:pPr algn="ctr"/>
            <a:r>
              <a:rPr sz="1800" b="1">
                <a:solidFill>
                  <a:srgbClr val="FFFFFF"/>
                </a:solidFill>
                <a:latin typeface="Helvetica"/>
              </a:rPr>
              <a:t>Closings</a:t>
            </a:r>
          </a:p>
          <a:p>
            <a:pPr algn="ctr">
              <a:spcBef>
                <a:spcPts val="200"/>
              </a:spcBef>
            </a:pPr>
            <a:r>
              <a:rPr sz="1000">
                <a:solidFill>
                  <a:srgbClr val="E2E8F0"/>
                </a:solidFill>
                <a:latin typeface="Helvetica"/>
              </a:rPr>
              <a:t>Convert pipeline into wins</a:t>
            </a:r>
          </a:p>
        </p:txBody>
      </p:sp>
      <p:sp>
        <p:nvSpPr>
          <p:cNvPr id="14" name="Right Arrow 13"/>
          <p:cNvSpPr/>
          <p:nvPr/>
        </p:nvSpPr>
        <p:spPr>
          <a:xfrm>
            <a:off x="8564727" y="3931920"/>
            <a:ext cx="274320" cy="274320"/>
          </a:xfrm>
          <a:prstGeom prst="rightArrow">
            <a:avLst/>
          </a:prstGeom>
          <a:solidFill>
            <a:srgbClr val="F26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839047" y="3520440"/>
            <a:ext cx="2331720" cy="1097280"/>
          </a:xfrm>
          <a:prstGeom prst="roundRect">
            <a:avLst>
              <a:gd name="adj" fmla="val 12000"/>
            </a:avLst>
          </a:prstGeom>
          <a:solidFill>
            <a:srgbClr val="0B1F3A"/>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01600" bIns="101600"/>
          <a:lstStyle/>
          <a:p>
            <a:pPr algn="ctr"/>
            <a:r>
              <a:rPr sz="1800" b="1">
                <a:solidFill>
                  <a:srgbClr val="FFFFFF"/>
                </a:solidFill>
                <a:latin typeface="Helvetica"/>
              </a:rPr>
              <a:t>Referrals</a:t>
            </a:r>
          </a:p>
          <a:p>
            <a:pPr algn="ctr">
              <a:spcBef>
                <a:spcPts val="200"/>
              </a:spcBef>
            </a:pPr>
            <a:r>
              <a:rPr sz="1000">
                <a:solidFill>
                  <a:srgbClr val="E2E8F0"/>
                </a:solidFill>
                <a:latin typeface="Helvetica"/>
              </a:rPr>
              <a:t>Closed clients send the next ones</a:t>
            </a:r>
          </a:p>
        </p:txBody>
      </p:sp>
      <p:sp>
        <p:nvSpPr>
          <p:cNvPr id="16" name="TextBox 15"/>
          <p:cNvSpPr txBox="1"/>
          <p:nvPr/>
        </p:nvSpPr>
        <p:spPr>
          <a:xfrm>
            <a:off x="731520" y="4937760"/>
            <a:ext cx="10698480" cy="457200"/>
          </a:xfrm>
          <a:prstGeom prst="rect">
            <a:avLst/>
          </a:prstGeom>
          <a:noFill/>
        </p:spPr>
        <p:txBody>
          <a:bodyPr wrap="square" lIns="0" rIns="0" tIns="0" bIns="0" anchor="t">
            <a:spAutoFit/>
          </a:bodyPr>
          <a:lstStyle/>
          <a:p>
            <a:pPr algn="ctr">
              <a:lnSpc>
                <a:spcPct val="115000"/>
              </a:lnSpc>
            </a:pPr>
            <a:r>
              <a:rPr sz="1400" b="1">
                <a:solidFill>
                  <a:srgbClr val="FFFFFF"/>
                </a:solidFill>
                <a:latin typeface="Helvetica"/>
              </a:rPr>
              <a:t>Track the work that creates conversations. You cannot manage what you cannot see.</a:t>
            </a:r>
          </a:p>
        </p:txBody>
      </p:sp>
      <p:sp>
        <p:nvSpPr>
          <p:cNvPr id="17" name="Rounded Rectangle 16"/>
          <p:cNvSpPr/>
          <p:nvPr/>
        </p:nvSpPr>
        <p:spPr>
          <a:xfrm>
            <a:off x="1828800" y="5532120"/>
            <a:ext cx="8503920" cy="822960"/>
          </a:xfrm>
          <a:prstGeom prst="roundRect">
            <a:avLst>
              <a:gd name="adj" fmla="val 18000"/>
            </a:avLst>
          </a:prstGeom>
          <a:solidFill>
            <a:srgbClr val="FFE3D2"/>
          </a:solidFill>
          <a:ln w="19050">
            <a:solidFill>
              <a:srgbClr val="F26A1F"/>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27000" bIns="127000"/>
          <a:lstStyle/>
          <a:p>
            <a:pPr algn="l"/>
            <a:r>
              <a:rPr sz="1200" b="1">
                <a:solidFill>
                  <a:srgbClr val="C9531A"/>
                </a:solidFill>
                <a:latin typeface="Helvetica"/>
              </a:rPr>
              <a:t>PAUSE FOR LIVE Q&amp;A</a:t>
            </a:r>
          </a:p>
          <a:p>
            <a:pPr algn="l">
              <a:spcBef>
                <a:spcPts val="400"/>
              </a:spcBef>
            </a:pPr>
            <a:r>
              <a:rPr sz="1400">
                <a:solidFill>
                  <a:srgbClr val="1F2937"/>
                </a:solidFill>
                <a:latin typeface="Helvetica"/>
              </a:rPr>
              <a:t>Q&amp;A 1. What feels scattered in your current sales and marketing routine?</a:t>
            </a:r>
          </a:p>
        </p:txBody>
      </p:sp>
      <p:sp>
        <p:nvSpPr>
          <p:cNvPr id="18" name="TextBox 17"/>
          <p:cNvSpPr txBox="1"/>
          <p:nvPr/>
        </p:nvSpPr>
        <p:spPr>
          <a:xfrm>
            <a:off x="457200" y="6446520"/>
            <a:ext cx="11277295" cy="320040"/>
          </a:xfrm>
          <a:prstGeom prst="rect">
            <a:avLst/>
          </a:prstGeom>
          <a:noFill/>
        </p:spPr>
        <p:txBody>
          <a:bodyPr wrap="none" lIns="0" rIns="0" tIns="0" bIns="0">
            <a:spAutoFit/>
          </a:bodyPr>
          <a:lstStyle/>
          <a:p>
            <a:pPr algn="l"/>
            <a:r>
              <a:rPr sz="900">
                <a:solidFill>
                  <a:srgbClr val="FFFFFF"/>
                </a:solidFill>
                <a:latin typeface="Helvetica"/>
              </a:rPr>
              <a:t>Elite Sales and Marketing Training 101  |  Mortgage Sales Foundation  |  Internal training only</a:t>
            </a:r>
          </a:p>
        </p:txBody>
      </p:sp>
      <p:sp>
        <p:nvSpPr>
          <p:cNvPr id="19" name="TextBox 18"/>
          <p:cNvSpPr txBox="1"/>
          <p:nvPr/>
        </p:nvSpPr>
        <p:spPr>
          <a:xfrm>
            <a:off x="10789920" y="6446520"/>
            <a:ext cx="1371600" cy="320040"/>
          </a:xfrm>
          <a:prstGeom prst="rect">
            <a:avLst/>
          </a:prstGeom>
          <a:noFill/>
        </p:spPr>
        <p:txBody>
          <a:bodyPr wrap="none" lIns="0" rIns="0" tIns="0" bIns="0">
            <a:spAutoFit/>
          </a:bodyPr>
          <a:lstStyle/>
          <a:p>
            <a:pPr algn="r"/>
            <a: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02920"/>
            <a:ext cx="731520" cy="38100"/>
          </a:xfrm>
          <a:prstGeom prst="rect">
            <a:avLst/>
          </a:prstGeom>
          <a:solidFill>
            <a:srgbClr val="F26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7315200" cy="320040"/>
          </a:xfrm>
          <a:prstGeom prst="rect">
            <a:avLst/>
          </a:prstGeom>
          <a:noFill/>
        </p:spPr>
        <p:txBody>
          <a:bodyPr wrap="square" lIns="0" rIns="0" tIns="0" bIns="0" anchor="t">
            <a:spAutoFit/>
          </a:bodyPr>
          <a:lstStyle/>
          <a:p>
            <a:pPr algn="l">
              <a:lnSpc>
                <a:spcPct val="115000"/>
              </a:lnSpc>
            </a:pPr>
            <a:r>
              <a:rPr sz="1100" b="1">
                <a:solidFill>
                  <a:srgbClr val="F26A1F"/>
                </a:solidFill>
                <a:latin typeface="Helvetica"/>
              </a:rPr>
              <a:t>ADVISOR FRAME</a:t>
            </a:r>
          </a:p>
        </p:txBody>
      </p:sp>
      <p:sp>
        <p:nvSpPr>
          <p:cNvPr id="5" name="TextBox 4"/>
          <p:cNvSpPr txBox="1"/>
          <p:nvPr/>
        </p:nvSpPr>
        <p:spPr>
          <a:xfrm>
            <a:off x="731520" y="1005840"/>
            <a:ext cx="10698480" cy="1097280"/>
          </a:xfrm>
          <a:prstGeom prst="rect">
            <a:avLst/>
          </a:prstGeom>
          <a:noFill/>
        </p:spPr>
        <p:txBody>
          <a:bodyPr wrap="square" lIns="0" rIns="0" tIns="0" bIns="0" anchor="t">
            <a:spAutoFit/>
          </a:bodyPr>
          <a:lstStyle/>
          <a:p>
            <a:pPr algn="l">
              <a:lnSpc>
                <a:spcPct val="115000"/>
              </a:lnSpc>
            </a:pPr>
            <a:r>
              <a:rPr sz="3600" b="1">
                <a:solidFill>
                  <a:srgbClr val="0B1F3A"/>
                </a:solidFill>
                <a:latin typeface="Helvetica"/>
              </a:rPr>
              <a:t>Help, do not pitch.</a:t>
            </a:r>
          </a:p>
        </p:txBody>
      </p:sp>
      <p:sp>
        <p:nvSpPr>
          <p:cNvPr id="6" name="TextBox 5"/>
          <p:cNvSpPr txBox="1"/>
          <p:nvPr/>
        </p:nvSpPr>
        <p:spPr>
          <a:xfrm>
            <a:off x="731520" y="1965960"/>
            <a:ext cx="10698480" cy="502920"/>
          </a:xfrm>
          <a:prstGeom prst="rect">
            <a:avLst/>
          </a:prstGeom>
          <a:noFill/>
        </p:spPr>
        <p:txBody>
          <a:bodyPr wrap="square" lIns="0" rIns="0" tIns="0" bIns="0" anchor="t">
            <a:spAutoFit/>
          </a:bodyPr>
          <a:lstStyle/>
          <a:p>
            <a:pPr algn="l">
              <a:lnSpc>
                <a:spcPct val="115000"/>
              </a:lnSpc>
            </a:pPr>
            <a:r>
              <a:rPr sz="1400" b="0">
                <a:solidFill>
                  <a:srgbClr val="1F2937"/>
                </a:solidFill>
                <a:latin typeface="Helvetica"/>
              </a:rPr>
              <a:t>Lead with goals, timeline, and the borrower's plan. Numbers come after the plan, not before.</a:t>
            </a:r>
          </a:p>
        </p:txBody>
      </p:sp>
      <p:sp>
        <p:nvSpPr>
          <p:cNvPr id="7" name="Rounded Rectangle 6"/>
          <p:cNvSpPr/>
          <p:nvPr/>
        </p:nvSpPr>
        <p:spPr>
          <a:xfrm>
            <a:off x="731520" y="2743200"/>
            <a:ext cx="5349240" cy="2743200"/>
          </a:xfrm>
          <a:prstGeom prst="roundRect">
            <a:avLst>
              <a:gd name="adj" fmla="val 4000"/>
            </a:avLst>
          </a:prstGeom>
          <a:solidFill>
            <a:srgbClr val="FFE3D2"/>
          </a:solidFill>
          <a:ln w="9525">
            <a:solidFill>
              <a:srgbClr val="F26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063240"/>
            <a:ext cx="4617720" cy="457200"/>
          </a:xfrm>
          <a:prstGeom prst="rect">
            <a:avLst/>
          </a:prstGeom>
          <a:noFill/>
        </p:spPr>
        <p:txBody>
          <a:bodyPr wrap="square" lIns="0" rIns="0" tIns="0" bIns="0" anchor="t">
            <a:spAutoFit/>
          </a:bodyPr>
          <a:lstStyle/>
          <a:p>
            <a:pPr algn="l">
              <a:lnSpc>
                <a:spcPct val="115000"/>
              </a:lnSpc>
            </a:pPr>
            <a:r>
              <a:rPr sz="1100" b="1">
                <a:solidFill>
                  <a:srgbClr val="C9531A"/>
                </a:solidFill>
                <a:latin typeface="Helvetica"/>
              </a:rPr>
              <a:t>ADVISOR</a:t>
            </a:r>
          </a:p>
        </p:txBody>
      </p:sp>
      <p:sp>
        <p:nvSpPr>
          <p:cNvPr id="9" name="TextBox 8"/>
          <p:cNvSpPr txBox="1"/>
          <p:nvPr/>
        </p:nvSpPr>
        <p:spPr>
          <a:xfrm>
            <a:off x="1097280" y="3474720"/>
            <a:ext cx="4617720" cy="548640"/>
          </a:xfrm>
          <a:prstGeom prst="rect">
            <a:avLst/>
          </a:prstGeom>
          <a:noFill/>
        </p:spPr>
        <p:txBody>
          <a:bodyPr wrap="square" lIns="0" rIns="0" tIns="0" bIns="0" anchor="t">
            <a:spAutoFit/>
          </a:bodyPr>
          <a:lstStyle/>
          <a:p>
            <a:pPr algn="l">
              <a:lnSpc>
                <a:spcPct val="115000"/>
              </a:lnSpc>
            </a:pPr>
            <a:r>
              <a:rPr sz="2200" b="1">
                <a:solidFill>
                  <a:srgbClr val="0B1F3A"/>
                </a:solidFill>
                <a:latin typeface="Helvetica"/>
              </a:rPr>
              <a:t>Plan, then numbers.</a:t>
            </a:r>
          </a:p>
        </p:txBody>
      </p:sp>
      <p:sp>
        <p:nvSpPr>
          <p:cNvPr id="10" name="TextBox 9"/>
          <p:cNvSpPr txBox="1"/>
          <p:nvPr/>
        </p:nvSpPr>
        <p:spPr>
          <a:xfrm>
            <a:off x="1097280" y="4114800"/>
            <a:ext cx="4617720" cy="365760"/>
          </a:xfrm>
          <a:prstGeom prst="rect">
            <a:avLst/>
          </a:prstGeom>
          <a:noFill/>
        </p:spPr>
        <p:txBody>
          <a:bodyPr wrap="square" lIns="0" rIns="0" tIns="0" bIns="0" anchor="t">
            <a:spAutoFit/>
          </a:bodyPr>
          <a:lstStyle/>
          <a:p>
            <a:pPr algn="l">
              <a:lnSpc>
                <a:spcPct val="115000"/>
              </a:lnSpc>
            </a:pPr>
            <a:r>
              <a:rPr sz="1200" b="0">
                <a:solidFill>
                  <a:srgbClr val="1F2937"/>
                </a:solidFill>
                <a:latin typeface="Helvetica"/>
              </a:rPr>
              <a:t>• Understand the borrower's situation first</a:t>
            </a:r>
          </a:p>
        </p:txBody>
      </p:sp>
      <p:sp>
        <p:nvSpPr>
          <p:cNvPr id="11" name="TextBox 10"/>
          <p:cNvSpPr txBox="1"/>
          <p:nvPr/>
        </p:nvSpPr>
        <p:spPr>
          <a:xfrm>
            <a:off x="1097280" y="4526280"/>
            <a:ext cx="4617720" cy="365760"/>
          </a:xfrm>
          <a:prstGeom prst="rect">
            <a:avLst/>
          </a:prstGeom>
          <a:noFill/>
        </p:spPr>
        <p:txBody>
          <a:bodyPr wrap="square" lIns="0" rIns="0" tIns="0" bIns="0" anchor="t">
            <a:spAutoFit/>
          </a:bodyPr>
          <a:lstStyle/>
          <a:p>
            <a:pPr algn="l">
              <a:lnSpc>
                <a:spcPct val="115000"/>
              </a:lnSpc>
            </a:pPr>
            <a:r>
              <a:rPr sz="1200" b="0">
                <a:solidFill>
                  <a:srgbClr val="1F2937"/>
                </a:solidFill>
                <a:latin typeface="Helvetica"/>
              </a:rPr>
              <a:t>• Build a plan around their goals</a:t>
            </a:r>
          </a:p>
        </p:txBody>
      </p:sp>
      <p:sp>
        <p:nvSpPr>
          <p:cNvPr id="12" name="TextBox 11"/>
          <p:cNvSpPr txBox="1"/>
          <p:nvPr/>
        </p:nvSpPr>
        <p:spPr>
          <a:xfrm>
            <a:off x="1097280" y="4937760"/>
            <a:ext cx="4617720" cy="365760"/>
          </a:xfrm>
          <a:prstGeom prst="rect">
            <a:avLst/>
          </a:prstGeom>
          <a:noFill/>
        </p:spPr>
        <p:txBody>
          <a:bodyPr wrap="square" lIns="0" rIns="0" tIns="0" bIns="0" anchor="t">
            <a:spAutoFit/>
          </a:bodyPr>
          <a:lstStyle/>
          <a:p>
            <a:pPr algn="l">
              <a:lnSpc>
                <a:spcPct val="115000"/>
              </a:lnSpc>
            </a:pPr>
            <a:r>
              <a:rPr sz="1200" b="0">
                <a:solidFill>
                  <a:srgbClr val="1F2937"/>
                </a:solidFill>
                <a:latin typeface="Helvetica"/>
              </a:rPr>
              <a:t>• Present numbers in context</a:t>
            </a:r>
          </a:p>
        </p:txBody>
      </p:sp>
      <p:sp>
        <p:nvSpPr>
          <p:cNvPr id="13" name="Rounded Rectangle 12"/>
          <p:cNvSpPr/>
          <p:nvPr/>
        </p:nvSpPr>
        <p:spPr>
          <a:xfrm>
            <a:off x="6355079" y="2743200"/>
            <a:ext cx="5349240" cy="2743200"/>
          </a:xfrm>
          <a:prstGeom prst="roundRect">
            <a:avLst>
              <a:gd name="adj" fmla="val 4000"/>
            </a:avLst>
          </a:prstGeom>
          <a:solidFill>
            <a:srgbClr val="F4F6F8"/>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39" y="3063240"/>
            <a:ext cx="4617720" cy="457200"/>
          </a:xfrm>
          <a:prstGeom prst="rect">
            <a:avLst/>
          </a:prstGeom>
          <a:noFill/>
        </p:spPr>
        <p:txBody>
          <a:bodyPr wrap="square" lIns="0" rIns="0" tIns="0" bIns="0" anchor="t">
            <a:spAutoFit/>
          </a:bodyPr>
          <a:lstStyle/>
          <a:p>
            <a:pPr algn="l">
              <a:lnSpc>
                <a:spcPct val="115000"/>
              </a:lnSpc>
            </a:pPr>
            <a:r>
              <a:rPr sz="1100" b="1">
                <a:solidFill>
                  <a:srgbClr val="475569"/>
                </a:solidFill>
                <a:latin typeface="Helvetica"/>
              </a:rPr>
              <a:t>ORDER TAKER</a:t>
            </a:r>
          </a:p>
        </p:txBody>
      </p:sp>
      <p:sp>
        <p:nvSpPr>
          <p:cNvPr id="15" name="TextBox 14"/>
          <p:cNvSpPr txBox="1"/>
          <p:nvPr/>
        </p:nvSpPr>
        <p:spPr>
          <a:xfrm>
            <a:off x="6720839" y="3474720"/>
            <a:ext cx="4617720" cy="548640"/>
          </a:xfrm>
          <a:prstGeom prst="rect">
            <a:avLst/>
          </a:prstGeom>
          <a:noFill/>
        </p:spPr>
        <p:txBody>
          <a:bodyPr wrap="square" lIns="0" rIns="0" tIns="0" bIns="0" anchor="t">
            <a:spAutoFit/>
          </a:bodyPr>
          <a:lstStyle/>
          <a:p>
            <a:pPr algn="l">
              <a:lnSpc>
                <a:spcPct val="115000"/>
              </a:lnSpc>
            </a:pPr>
            <a:r>
              <a:rPr sz="2200" b="1">
                <a:solidFill>
                  <a:srgbClr val="1F2937"/>
                </a:solidFill>
                <a:latin typeface="Helvetica"/>
              </a:rPr>
              <a:t>Quote and hope.</a:t>
            </a:r>
          </a:p>
        </p:txBody>
      </p:sp>
      <p:sp>
        <p:nvSpPr>
          <p:cNvPr id="16" name="TextBox 15"/>
          <p:cNvSpPr txBox="1"/>
          <p:nvPr/>
        </p:nvSpPr>
        <p:spPr>
          <a:xfrm>
            <a:off x="6720839" y="4114800"/>
            <a:ext cx="4617720" cy="365760"/>
          </a:xfrm>
          <a:prstGeom prst="rect">
            <a:avLst/>
          </a:prstGeom>
          <a:noFill/>
        </p:spPr>
        <p:txBody>
          <a:bodyPr wrap="square" lIns="0" rIns="0" tIns="0" bIns="0" anchor="t">
            <a:spAutoFit/>
          </a:bodyPr>
          <a:lstStyle/>
          <a:p>
            <a:pPr algn="l">
              <a:lnSpc>
                <a:spcPct val="115000"/>
              </a:lnSpc>
            </a:pPr>
            <a:r>
              <a:rPr sz="1200" b="0">
                <a:solidFill>
                  <a:srgbClr val="1F2937"/>
                </a:solidFill>
                <a:latin typeface="Helvetica"/>
              </a:rPr>
              <a:t>• Leads with rate before understanding needs</a:t>
            </a:r>
          </a:p>
        </p:txBody>
      </p:sp>
      <p:sp>
        <p:nvSpPr>
          <p:cNvPr id="17" name="TextBox 16"/>
          <p:cNvSpPr txBox="1"/>
          <p:nvPr/>
        </p:nvSpPr>
        <p:spPr>
          <a:xfrm>
            <a:off x="6720839" y="4526280"/>
            <a:ext cx="4617720" cy="365760"/>
          </a:xfrm>
          <a:prstGeom prst="rect">
            <a:avLst/>
          </a:prstGeom>
          <a:noFill/>
        </p:spPr>
        <p:txBody>
          <a:bodyPr wrap="square" lIns="0" rIns="0" tIns="0" bIns="0" anchor="t">
            <a:spAutoFit/>
          </a:bodyPr>
          <a:lstStyle/>
          <a:p>
            <a:pPr algn="l">
              <a:lnSpc>
                <a:spcPct val="115000"/>
              </a:lnSpc>
            </a:pPr>
            <a:r>
              <a:rPr sz="1200" b="0">
                <a:solidFill>
                  <a:srgbClr val="1F2937"/>
                </a:solidFill>
                <a:latin typeface="Helvetica"/>
              </a:rPr>
              <a:t>• Hopes the number wins the deal</a:t>
            </a:r>
          </a:p>
        </p:txBody>
      </p:sp>
      <p:sp>
        <p:nvSpPr>
          <p:cNvPr id="18" name="TextBox 17"/>
          <p:cNvSpPr txBox="1"/>
          <p:nvPr/>
        </p:nvSpPr>
        <p:spPr>
          <a:xfrm>
            <a:off x="6720839" y="4937760"/>
            <a:ext cx="4617720" cy="365760"/>
          </a:xfrm>
          <a:prstGeom prst="rect">
            <a:avLst/>
          </a:prstGeom>
          <a:noFill/>
        </p:spPr>
        <p:txBody>
          <a:bodyPr wrap="square" lIns="0" rIns="0" tIns="0" bIns="0" anchor="t">
            <a:spAutoFit/>
          </a:bodyPr>
          <a:lstStyle/>
          <a:p>
            <a:pPr algn="l">
              <a:lnSpc>
                <a:spcPct val="115000"/>
              </a:lnSpc>
            </a:pPr>
            <a:r>
              <a:rPr sz="1200" b="0">
                <a:solidFill>
                  <a:srgbClr val="1F2937"/>
                </a:solidFill>
                <a:latin typeface="Helvetica"/>
              </a:rPr>
              <a:t>• Loses to the next person who quotes lower</a:t>
            </a:r>
          </a:p>
        </p:txBody>
      </p:sp>
      <p:sp>
        <p:nvSpPr>
          <p:cNvPr id="19" name="Rounded Rectangle 18"/>
          <p:cNvSpPr/>
          <p:nvPr/>
        </p:nvSpPr>
        <p:spPr>
          <a:xfrm>
            <a:off x="731520" y="5715000"/>
            <a:ext cx="10698480" cy="640080"/>
          </a:xfrm>
          <a:prstGeom prst="roundRect">
            <a:avLst>
              <a:gd name="adj" fmla="val 4000"/>
            </a:avLst>
          </a:prstGeom>
          <a:solidFill>
            <a:srgbClr val="FFE3D2"/>
          </a:solidFill>
          <a:ln w="9525">
            <a:solidFill>
              <a:srgbClr val="F26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806440"/>
            <a:ext cx="10424160" cy="502920"/>
          </a:xfrm>
          <a:prstGeom prst="rect">
            <a:avLst/>
          </a:prstGeom>
          <a:noFill/>
        </p:spPr>
        <p:txBody>
          <a:bodyPr wrap="square" lIns="0" rIns="0" tIns="0" bIns="0" anchor="t">
            <a:spAutoFit/>
          </a:bodyPr>
          <a:lstStyle/>
          <a:p>
            <a:pPr algn="l">
              <a:lnSpc>
                <a:spcPct val="115000"/>
              </a:lnSpc>
            </a:pPr>
            <a:r>
              <a:rPr sz="1100" b="1">
                <a:solidFill>
                  <a:srgbClr val="C9531A"/>
                </a:solidFill>
                <a:latin typeface="Helvetica"/>
              </a:rPr>
              <a:t>COMPLIANCE REMINDER  </a:t>
            </a:r>
          </a:p>
          <a:p>
            <a:pPr algn="l">
              <a:lnSpc>
                <a:spcPct val="115000"/>
              </a:lnSpc>
            </a:pPr>
            <a:r>
              <a:rPr sz="1200" b="0">
                <a:solidFill>
                  <a:srgbClr val="1F2937"/>
                </a:solidFill>
                <a:latin typeface="Helvetica"/>
              </a:rPr>
              <a:t>Live conversation flexibility is not permission to put specific rates, payments, or fees into writing without disclosures.</a:t>
            </a:r>
          </a:p>
        </p:txBody>
      </p:sp>
      <p:sp>
        <p:nvSpPr>
          <p:cNvPr id="21" name="TextBox 20"/>
          <p:cNvSpPr txBox="1"/>
          <p:nvPr/>
        </p:nvSpPr>
        <p:spPr>
          <a:xfrm>
            <a:off x="457200" y="6446520"/>
            <a:ext cx="11277295" cy="320040"/>
          </a:xfrm>
          <a:prstGeom prst="rect">
            <a:avLst/>
          </a:prstGeom>
          <a:noFill/>
        </p:spPr>
        <p:txBody>
          <a:bodyPr wrap="none" lIns="0" rIns="0" tIns="0" bIns="0">
            <a:spAutoFit/>
          </a:bodyPr>
          <a:lstStyle/>
          <a:p>
            <a:pPr algn="l"/>
            <a:r>
              <a:rPr sz="900">
                <a:solidFill>
                  <a:srgbClr val="475569"/>
                </a:solidFill>
                <a:latin typeface="Helvetica"/>
              </a:rPr>
              <a:t>Elite Sales and Marketing Training 101  |  Mortgage Sales Foundation  |  Internal training only</a:t>
            </a:r>
          </a:p>
        </p:txBody>
      </p:sp>
      <p:sp>
        <p:nvSpPr>
          <p:cNvPr id="22" name="TextBox 21"/>
          <p:cNvSpPr txBox="1"/>
          <p:nvPr/>
        </p:nvSpPr>
        <p:spPr>
          <a:xfrm>
            <a:off x="10789920" y="6446520"/>
            <a:ext cx="1371600" cy="320040"/>
          </a:xfrm>
          <a:prstGeom prst="rect">
            <a:avLst/>
          </a:prstGeom>
          <a:noFill/>
        </p:spPr>
        <p:txBody>
          <a:bodyPr wrap="none" lIns="0" rIns="0" tIns="0" bIns="0">
            <a:spAutoFit/>
          </a:bodyPr>
          <a:lstStyle/>
          <a:p>
            <a:pPr algn="r"/>
            <a: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rk-hero-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8172A">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502920"/>
            <a:ext cx="731520" cy="38100"/>
          </a:xfrm>
          <a:prstGeom prst="rect">
            <a:avLst/>
          </a:prstGeom>
          <a:solidFill>
            <a:srgbClr val="F26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
            <a:ext cx="7315200" cy="320040"/>
          </a:xfrm>
          <a:prstGeom prst="rect">
            <a:avLst/>
          </a:prstGeom>
          <a:noFill/>
        </p:spPr>
        <p:txBody>
          <a:bodyPr wrap="square" lIns="0" rIns="0" tIns="0" bIns="0" anchor="t">
            <a:spAutoFit/>
          </a:bodyPr>
          <a:lstStyle/>
          <a:p>
            <a:pPr algn="l">
              <a:lnSpc>
                <a:spcPct val="115000"/>
              </a:lnSpc>
            </a:pPr>
            <a:r>
              <a:rPr sz="1100" b="1">
                <a:solidFill>
                  <a:srgbClr val="F26A1F"/>
                </a:solidFill>
                <a:latin typeface="Helvetica"/>
              </a:rPr>
              <a:t>BROKER MODEL POSITIONING</a:t>
            </a:r>
          </a:p>
        </p:txBody>
      </p:sp>
      <p:sp>
        <p:nvSpPr>
          <p:cNvPr id="6" name="TextBox 5"/>
          <p:cNvSpPr txBox="1"/>
          <p:nvPr/>
        </p:nvSpPr>
        <p:spPr>
          <a:xfrm>
            <a:off x="731520" y="1005840"/>
            <a:ext cx="10698480" cy="1097280"/>
          </a:xfrm>
          <a:prstGeom prst="rect">
            <a:avLst/>
          </a:prstGeom>
          <a:noFill/>
        </p:spPr>
        <p:txBody>
          <a:bodyPr wrap="square" lIns="0" rIns="0" tIns="0" bIns="0" anchor="t">
            <a:spAutoFit/>
          </a:bodyPr>
          <a:lstStyle/>
          <a:p>
            <a:pPr algn="l">
              <a:lnSpc>
                <a:spcPct val="115000"/>
              </a:lnSpc>
            </a:pPr>
            <a:r>
              <a:rPr sz="3600" b="1">
                <a:solidFill>
                  <a:srgbClr val="FFFFFF"/>
                </a:solidFill>
                <a:latin typeface="Helvetica"/>
              </a:rPr>
              <a:t>Loan Factory is a mortgage brokerage.</a:t>
            </a:r>
          </a:p>
        </p:txBody>
      </p:sp>
      <p:sp>
        <p:nvSpPr>
          <p:cNvPr id="7" name="TextBox 6"/>
          <p:cNvSpPr txBox="1"/>
          <p:nvPr/>
        </p:nvSpPr>
        <p:spPr>
          <a:xfrm>
            <a:off x="731520" y="2377440"/>
            <a:ext cx="4572000" cy="2377440"/>
          </a:xfrm>
          <a:prstGeom prst="rect">
            <a:avLst/>
          </a:prstGeom>
          <a:noFill/>
        </p:spPr>
        <p:txBody>
          <a:bodyPr wrap="square" lIns="0" rIns="0" tIns="0" bIns="0" anchor="t">
            <a:spAutoFit/>
          </a:bodyPr>
          <a:lstStyle/>
          <a:p>
            <a:pPr algn="l">
              <a:lnSpc>
                <a:spcPct val="95000"/>
              </a:lnSpc>
            </a:pPr>
            <a:r>
              <a:rPr sz="14000" b="1">
                <a:solidFill>
                  <a:srgbClr val="F26A1F"/>
                </a:solidFill>
                <a:latin typeface="Helvetica"/>
              </a:rPr>
              <a:t>240+</a:t>
            </a:r>
          </a:p>
        </p:txBody>
      </p:sp>
      <p:sp>
        <p:nvSpPr>
          <p:cNvPr id="8" name="TextBox 7"/>
          <p:cNvSpPr txBox="1"/>
          <p:nvPr/>
        </p:nvSpPr>
        <p:spPr>
          <a:xfrm>
            <a:off x="731520" y="4572000"/>
            <a:ext cx="4572000" cy="502920"/>
          </a:xfrm>
          <a:prstGeom prst="rect">
            <a:avLst/>
          </a:prstGeom>
          <a:noFill/>
        </p:spPr>
        <p:txBody>
          <a:bodyPr wrap="square" lIns="0" rIns="0" tIns="0" bIns="0" anchor="t">
            <a:spAutoFit/>
          </a:bodyPr>
          <a:lstStyle/>
          <a:p>
            <a:pPr algn="l">
              <a:lnSpc>
                <a:spcPct val="115000"/>
              </a:lnSpc>
            </a:pPr>
            <a:r>
              <a:rPr sz="1400" b="1">
                <a:solidFill>
                  <a:srgbClr val="FFFFFF"/>
                </a:solidFill>
                <a:latin typeface="Helvetica"/>
              </a:rPr>
              <a:t>WHOLESALE LENDERS</a:t>
            </a:r>
          </a:p>
        </p:txBody>
      </p:sp>
      <p:sp>
        <p:nvSpPr>
          <p:cNvPr id="9" name="Rounded Rectangle 8"/>
          <p:cNvSpPr/>
          <p:nvPr/>
        </p:nvSpPr>
        <p:spPr>
          <a:xfrm>
            <a:off x="5852160" y="2377440"/>
            <a:ext cx="5577840" cy="822960"/>
          </a:xfrm>
          <a:prstGeom prst="roundRect">
            <a:avLst>
              <a:gd name="adj" fmla="val 4000"/>
            </a:avLst>
          </a:prstGeom>
          <a:solidFill>
            <a:srgbClr val="0B1F3A"/>
          </a:solidFill>
          <a:ln w="9525">
            <a:solidFill>
              <a:srgbClr val="F26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2496312"/>
            <a:ext cx="5029200" cy="365760"/>
          </a:xfrm>
          <a:prstGeom prst="rect">
            <a:avLst/>
          </a:prstGeom>
          <a:noFill/>
        </p:spPr>
        <p:txBody>
          <a:bodyPr wrap="square" lIns="0" rIns="0" tIns="0" bIns="0" anchor="t">
            <a:spAutoFit/>
          </a:bodyPr>
          <a:lstStyle/>
          <a:p>
            <a:pPr algn="l">
              <a:lnSpc>
                <a:spcPct val="115000"/>
              </a:lnSpc>
            </a:pPr>
            <a:r>
              <a:rPr sz="1800" b="1">
                <a:solidFill>
                  <a:srgbClr val="F26A1F"/>
                </a:solidFill>
                <a:latin typeface="Helvetica"/>
              </a:rPr>
              <a:t>Choice</a:t>
            </a:r>
          </a:p>
        </p:txBody>
      </p:sp>
      <p:sp>
        <p:nvSpPr>
          <p:cNvPr id="11" name="TextBox 10"/>
          <p:cNvSpPr txBox="1"/>
          <p:nvPr/>
        </p:nvSpPr>
        <p:spPr>
          <a:xfrm>
            <a:off x="6126480" y="2834640"/>
            <a:ext cx="5029200" cy="365760"/>
          </a:xfrm>
          <a:prstGeom prst="rect">
            <a:avLst/>
          </a:prstGeom>
          <a:noFill/>
        </p:spPr>
        <p:txBody>
          <a:bodyPr wrap="square" lIns="0" rIns="0" tIns="0" bIns="0" anchor="t">
            <a:spAutoFit/>
          </a:bodyPr>
          <a:lstStyle/>
          <a:p>
            <a:pPr algn="l">
              <a:lnSpc>
                <a:spcPct val="115000"/>
              </a:lnSpc>
            </a:pPr>
            <a:r>
              <a:rPr sz="1200" b="0">
                <a:solidFill>
                  <a:srgbClr val="E2E8F0"/>
                </a:solidFill>
                <a:latin typeface="Helvetica"/>
              </a:rPr>
              <a:t>More options. Match the right product to the right borrower.</a:t>
            </a:r>
          </a:p>
        </p:txBody>
      </p:sp>
      <p:sp>
        <p:nvSpPr>
          <p:cNvPr id="12" name="Rounded Rectangle 11"/>
          <p:cNvSpPr/>
          <p:nvPr/>
        </p:nvSpPr>
        <p:spPr>
          <a:xfrm>
            <a:off x="5852160" y="3337560"/>
            <a:ext cx="5577840" cy="822960"/>
          </a:xfrm>
          <a:prstGeom prst="roundRect">
            <a:avLst>
              <a:gd name="adj" fmla="val 4000"/>
            </a:avLst>
          </a:prstGeom>
          <a:solidFill>
            <a:srgbClr val="0B1F3A"/>
          </a:solidFill>
          <a:ln w="9525">
            <a:solidFill>
              <a:srgbClr val="F26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0" y="3456432"/>
            <a:ext cx="5029200" cy="365760"/>
          </a:xfrm>
          <a:prstGeom prst="rect">
            <a:avLst/>
          </a:prstGeom>
          <a:noFill/>
        </p:spPr>
        <p:txBody>
          <a:bodyPr wrap="square" lIns="0" rIns="0" tIns="0" bIns="0" anchor="t">
            <a:spAutoFit/>
          </a:bodyPr>
          <a:lstStyle/>
          <a:p>
            <a:pPr algn="l">
              <a:lnSpc>
                <a:spcPct val="115000"/>
              </a:lnSpc>
            </a:pPr>
            <a:r>
              <a:rPr sz="1800" b="1">
                <a:solidFill>
                  <a:srgbClr val="F26A1F"/>
                </a:solidFill>
                <a:latin typeface="Helvetica"/>
              </a:rPr>
              <a:t>Fit</a:t>
            </a:r>
          </a:p>
        </p:txBody>
      </p:sp>
      <p:sp>
        <p:nvSpPr>
          <p:cNvPr id="14" name="TextBox 13"/>
          <p:cNvSpPr txBox="1"/>
          <p:nvPr/>
        </p:nvSpPr>
        <p:spPr>
          <a:xfrm>
            <a:off x="6126480" y="3794760"/>
            <a:ext cx="5029200" cy="365760"/>
          </a:xfrm>
          <a:prstGeom prst="rect">
            <a:avLst/>
          </a:prstGeom>
          <a:noFill/>
        </p:spPr>
        <p:txBody>
          <a:bodyPr wrap="square" lIns="0" rIns="0" tIns="0" bIns="0" anchor="t">
            <a:spAutoFit/>
          </a:bodyPr>
          <a:lstStyle/>
          <a:p>
            <a:pPr algn="l">
              <a:lnSpc>
                <a:spcPct val="115000"/>
              </a:lnSpc>
            </a:pPr>
            <a:r>
              <a:rPr sz="1200" b="0">
                <a:solidFill>
                  <a:srgbClr val="E2E8F0"/>
                </a:solidFill>
                <a:latin typeface="Helvetica"/>
              </a:rPr>
              <a:t>The lender that fits this file, not the only lender we have.</a:t>
            </a:r>
          </a:p>
        </p:txBody>
      </p:sp>
      <p:sp>
        <p:nvSpPr>
          <p:cNvPr id="15" name="Rounded Rectangle 14"/>
          <p:cNvSpPr/>
          <p:nvPr/>
        </p:nvSpPr>
        <p:spPr>
          <a:xfrm>
            <a:off x="5852160" y="4297680"/>
            <a:ext cx="5577840" cy="822960"/>
          </a:xfrm>
          <a:prstGeom prst="roundRect">
            <a:avLst>
              <a:gd name="adj" fmla="val 4000"/>
            </a:avLst>
          </a:prstGeom>
          <a:solidFill>
            <a:srgbClr val="0B1F3A"/>
          </a:solidFill>
          <a:ln w="9525">
            <a:solidFill>
              <a:srgbClr val="F26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0" y="4416552"/>
            <a:ext cx="5029200" cy="365760"/>
          </a:xfrm>
          <a:prstGeom prst="rect">
            <a:avLst/>
          </a:prstGeom>
          <a:noFill/>
        </p:spPr>
        <p:txBody>
          <a:bodyPr wrap="square" lIns="0" rIns="0" tIns="0" bIns="0" anchor="t">
            <a:spAutoFit/>
          </a:bodyPr>
          <a:lstStyle/>
          <a:p>
            <a:pPr algn="l">
              <a:lnSpc>
                <a:spcPct val="115000"/>
              </a:lnSpc>
            </a:pPr>
            <a:r>
              <a:rPr sz="1800" b="1">
                <a:solidFill>
                  <a:srgbClr val="F26A1F"/>
                </a:solidFill>
                <a:latin typeface="Helvetica"/>
              </a:rPr>
              <a:t>Flexibility</a:t>
            </a:r>
          </a:p>
        </p:txBody>
      </p:sp>
      <p:sp>
        <p:nvSpPr>
          <p:cNvPr id="17" name="TextBox 16"/>
          <p:cNvSpPr txBox="1"/>
          <p:nvPr/>
        </p:nvSpPr>
        <p:spPr>
          <a:xfrm>
            <a:off x="6126480" y="4754880"/>
            <a:ext cx="5029200" cy="365760"/>
          </a:xfrm>
          <a:prstGeom prst="rect">
            <a:avLst/>
          </a:prstGeom>
          <a:noFill/>
        </p:spPr>
        <p:txBody>
          <a:bodyPr wrap="square" lIns="0" rIns="0" tIns="0" bIns="0" anchor="t">
            <a:spAutoFit/>
          </a:bodyPr>
          <a:lstStyle/>
          <a:p>
            <a:pPr algn="l">
              <a:lnSpc>
                <a:spcPct val="115000"/>
              </a:lnSpc>
            </a:pPr>
            <a:r>
              <a:rPr sz="1200" b="0">
                <a:solidFill>
                  <a:srgbClr val="E2E8F0"/>
                </a:solidFill>
                <a:latin typeface="Helvetica"/>
              </a:rPr>
              <a:t>Programs and overlays differ. Real flexibility on the file.</a:t>
            </a:r>
          </a:p>
        </p:txBody>
      </p:sp>
      <p:sp>
        <p:nvSpPr>
          <p:cNvPr id="18" name="TextBox 17"/>
          <p:cNvSpPr txBox="1"/>
          <p:nvPr/>
        </p:nvSpPr>
        <p:spPr>
          <a:xfrm>
            <a:off x="731520" y="5212080"/>
            <a:ext cx="10698480" cy="365760"/>
          </a:xfrm>
          <a:prstGeom prst="rect">
            <a:avLst/>
          </a:prstGeom>
          <a:noFill/>
        </p:spPr>
        <p:txBody>
          <a:bodyPr wrap="square" lIns="0" rIns="0" tIns="0" bIns="0" anchor="t">
            <a:spAutoFit/>
          </a:bodyPr>
          <a:lstStyle/>
          <a:p>
            <a:pPr algn="l">
              <a:lnSpc>
                <a:spcPct val="115000"/>
              </a:lnSpc>
            </a:pPr>
            <a:r>
              <a:rPr sz="1200" b="0">
                <a:solidFill>
                  <a:srgbClr val="CBD5E1"/>
                </a:solidFill>
                <a:latin typeface="Helvetica"/>
              </a:rPr>
              <a:t>We do not bash banks or retail lenders. We talk about choice, fit, and flexibility.</a:t>
            </a:r>
          </a:p>
        </p:txBody>
      </p:sp>
      <p:sp>
        <p:nvSpPr>
          <p:cNvPr id="19" name="Rounded Rectangle 18"/>
          <p:cNvSpPr/>
          <p:nvPr/>
        </p:nvSpPr>
        <p:spPr>
          <a:xfrm>
            <a:off x="1828800" y="5669280"/>
            <a:ext cx="8503920" cy="822960"/>
          </a:xfrm>
          <a:prstGeom prst="roundRect">
            <a:avLst>
              <a:gd name="adj" fmla="val 18000"/>
            </a:avLst>
          </a:prstGeom>
          <a:solidFill>
            <a:srgbClr val="FFE3D2"/>
          </a:solidFill>
          <a:ln w="19050">
            <a:solidFill>
              <a:srgbClr val="F26A1F"/>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27000" bIns="127000"/>
          <a:lstStyle/>
          <a:p>
            <a:pPr algn="l"/>
            <a:r>
              <a:rPr sz="1200" b="1">
                <a:solidFill>
                  <a:srgbClr val="C9531A"/>
                </a:solidFill>
                <a:latin typeface="Helvetica"/>
              </a:rPr>
              <a:t>PAUSE FOR LIVE Q&amp;A</a:t>
            </a:r>
          </a:p>
          <a:p>
            <a:pPr algn="l">
              <a:spcBef>
                <a:spcPts val="400"/>
              </a:spcBef>
            </a:pPr>
            <a:r>
              <a:rPr sz="1400">
                <a:solidFill>
                  <a:srgbClr val="1F2937"/>
                </a:solidFill>
                <a:latin typeface="Helvetica"/>
              </a:rPr>
              <a:t>Q&amp;A 2. Can you explain the broker model in plain English without sounding salesy?</a:t>
            </a:r>
          </a:p>
        </p:txBody>
      </p:sp>
      <p:sp>
        <p:nvSpPr>
          <p:cNvPr id="20" name="TextBox 19"/>
          <p:cNvSpPr txBox="1"/>
          <p:nvPr/>
        </p:nvSpPr>
        <p:spPr>
          <a:xfrm>
            <a:off x="457200" y="6446520"/>
            <a:ext cx="11277295" cy="320040"/>
          </a:xfrm>
          <a:prstGeom prst="rect">
            <a:avLst/>
          </a:prstGeom>
          <a:noFill/>
        </p:spPr>
        <p:txBody>
          <a:bodyPr wrap="none" lIns="0" rIns="0" tIns="0" bIns="0">
            <a:spAutoFit/>
          </a:bodyPr>
          <a:lstStyle/>
          <a:p>
            <a:pPr algn="l"/>
            <a:r>
              <a:rPr sz="900">
                <a:solidFill>
                  <a:srgbClr val="FFFFFF"/>
                </a:solidFill>
                <a:latin typeface="Helvetica"/>
              </a:rPr>
              <a:t>Elite Sales and Marketing Training 101  |  Mortgage Sales Foundation  |  Internal training only</a:t>
            </a:r>
          </a:p>
        </p:txBody>
      </p:sp>
      <p:sp>
        <p:nvSpPr>
          <p:cNvPr id="21" name="TextBox 20"/>
          <p:cNvSpPr txBox="1"/>
          <p:nvPr/>
        </p:nvSpPr>
        <p:spPr>
          <a:xfrm>
            <a:off x="10789920" y="6446520"/>
            <a:ext cx="1371600" cy="320040"/>
          </a:xfrm>
          <a:prstGeom prst="rect">
            <a:avLst/>
          </a:prstGeom>
          <a:noFill/>
        </p:spPr>
        <p:txBody>
          <a:bodyPr wrap="none" lIns="0" rIns="0" tIns="0" bIns="0">
            <a:spAutoFit/>
          </a:bodyPr>
          <a:lstStyle/>
          <a:p>
            <a:pPr algn="r"/>
            <a: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02920"/>
            <a:ext cx="731520" cy="38100"/>
          </a:xfrm>
          <a:prstGeom prst="rect">
            <a:avLst/>
          </a:prstGeom>
          <a:solidFill>
            <a:srgbClr val="F26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9144000" cy="320040"/>
          </a:xfrm>
          <a:prstGeom prst="rect">
            <a:avLst/>
          </a:prstGeom>
          <a:noFill/>
        </p:spPr>
        <p:txBody>
          <a:bodyPr wrap="square" lIns="0" rIns="0" tIns="0" bIns="0" anchor="t">
            <a:spAutoFit/>
          </a:bodyPr>
          <a:lstStyle/>
          <a:p>
            <a:pPr algn="l">
              <a:lnSpc>
                <a:spcPct val="115000"/>
              </a:lnSpc>
            </a:pPr>
            <a:r>
              <a:rPr sz="1100" b="1">
                <a:solidFill>
                  <a:srgbClr val="F26A1F"/>
                </a:solidFill>
                <a:latin typeface="Helvetica"/>
              </a:rPr>
              <a:t>THE FIRST BORROWER CONVERSATION</a:t>
            </a:r>
          </a:p>
        </p:txBody>
      </p:sp>
      <p:sp>
        <p:nvSpPr>
          <p:cNvPr id="5" name="TextBox 4"/>
          <p:cNvSpPr txBox="1"/>
          <p:nvPr/>
        </p:nvSpPr>
        <p:spPr>
          <a:xfrm>
            <a:off x="731520" y="1005840"/>
            <a:ext cx="10698480" cy="1097280"/>
          </a:xfrm>
          <a:prstGeom prst="rect">
            <a:avLst/>
          </a:prstGeom>
          <a:noFill/>
        </p:spPr>
        <p:txBody>
          <a:bodyPr wrap="square" lIns="0" rIns="0" tIns="0" bIns="0" anchor="t">
            <a:spAutoFit/>
          </a:bodyPr>
          <a:lstStyle/>
          <a:p>
            <a:pPr algn="l">
              <a:lnSpc>
                <a:spcPct val="115000"/>
              </a:lnSpc>
            </a:pPr>
            <a:r>
              <a:rPr sz="3600" b="1">
                <a:solidFill>
                  <a:srgbClr val="0B1F3A"/>
                </a:solidFill>
                <a:latin typeface="Helvetica"/>
              </a:rPr>
              <a:t>The link is not the relationship.</a:t>
            </a:r>
          </a:p>
        </p:txBody>
      </p:sp>
      <p:sp>
        <p:nvSpPr>
          <p:cNvPr id="6" name="TextBox 5"/>
          <p:cNvSpPr txBox="1"/>
          <p:nvPr/>
        </p:nvSpPr>
        <p:spPr>
          <a:xfrm>
            <a:off x="731520" y="1874519"/>
            <a:ext cx="10698480" cy="502920"/>
          </a:xfrm>
          <a:prstGeom prst="rect">
            <a:avLst/>
          </a:prstGeom>
          <a:noFill/>
        </p:spPr>
        <p:txBody>
          <a:bodyPr wrap="square" lIns="0" rIns="0" tIns="0" bIns="0" anchor="t">
            <a:spAutoFit/>
          </a:bodyPr>
          <a:lstStyle/>
          <a:p>
            <a:pPr algn="l">
              <a:lnSpc>
                <a:spcPct val="115000"/>
              </a:lnSpc>
            </a:pPr>
            <a:r>
              <a:rPr sz="1400" b="0">
                <a:solidFill>
                  <a:srgbClr val="1F2937"/>
                </a:solidFill>
                <a:latin typeface="Helvetica"/>
              </a:rPr>
              <a:t>Sending only an application link feels efficient. It is not. The conversation is the work.</a:t>
            </a:r>
          </a:p>
        </p:txBody>
      </p:sp>
      <p:sp>
        <p:nvSpPr>
          <p:cNvPr id="7" name="Rounded Rectangle 6"/>
          <p:cNvSpPr/>
          <p:nvPr/>
        </p:nvSpPr>
        <p:spPr>
          <a:xfrm>
            <a:off x="731520" y="2651760"/>
            <a:ext cx="5349240" cy="2606040"/>
          </a:xfrm>
          <a:prstGeom prst="roundRect">
            <a:avLst>
              <a:gd name="adj" fmla="val 4000"/>
            </a:avLst>
          </a:prstGeom>
          <a:solidFill>
            <a:srgbClr val="F4F6F8"/>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926080"/>
            <a:ext cx="4617720" cy="365760"/>
          </a:xfrm>
          <a:prstGeom prst="rect">
            <a:avLst/>
          </a:prstGeom>
          <a:noFill/>
        </p:spPr>
        <p:txBody>
          <a:bodyPr wrap="square" lIns="0" rIns="0" tIns="0" bIns="0" anchor="t">
            <a:spAutoFit/>
          </a:bodyPr>
          <a:lstStyle/>
          <a:p>
            <a:pPr algn="l">
              <a:lnSpc>
                <a:spcPct val="115000"/>
              </a:lnSpc>
            </a:pPr>
            <a:r>
              <a:rPr sz="1100" b="1">
                <a:solidFill>
                  <a:srgbClr val="475569"/>
                </a:solidFill>
                <a:latin typeface="Helvetica"/>
              </a:rPr>
              <a:t>LINK DROP</a:t>
            </a:r>
          </a:p>
        </p:txBody>
      </p:sp>
      <p:sp>
        <p:nvSpPr>
          <p:cNvPr id="9" name="TextBox 8"/>
          <p:cNvSpPr txBox="1"/>
          <p:nvPr/>
        </p:nvSpPr>
        <p:spPr>
          <a:xfrm>
            <a:off x="1097280" y="3291840"/>
            <a:ext cx="4617720" cy="457200"/>
          </a:xfrm>
          <a:prstGeom prst="rect">
            <a:avLst/>
          </a:prstGeom>
          <a:noFill/>
        </p:spPr>
        <p:txBody>
          <a:bodyPr wrap="square" lIns="0" rIns="0" tIns="0" bIns="0" anchor="t">
            <a:spAutoFit/>
          </a:bodyPr>
          <a:lstStyle/>
          <a:p>
            <a:pPr algn="l">
              <a:lnSpc>
                <a:spcPct val="115000"/>
              </a:lnSpc>
            </a:pPr>
            <a:r>
              <a:rPr sz="2000" b="1">
                <a:solidFill>
                  <a:srgbClr val="1F2937"/>
                </a:solidFill>
                <a:latin typeface="Helvetica"/>
              </a:rPr>
              <a:t>Borrower as a transaction.</a:t>
            </a:r>
          </a:p>
        </p:txBody>
      </p:sp>
      <p:sp>
        <p:nvSpPr>
          <p:cNvPr id="10" name="TextBox 9"/>
          <p:cNvSpPr txBox="1"/>
          <p:nvPr/>
        </p:nvSpPr>
        <p:spPr>
          <a:xfrm>
            <a:off x="1097280" y="3886200"/>
            <a:ext cx="4617720" cy="365760"/>
          </a:xfrm>
          <a:prstGeom prst="rect">
            <a:avLst/>
          </a:prstGeom>
          <a:noFill/>
        </p:spPr>
        <p:txBody>
          <a:bodyPr wrap="square" lIns="0" rIns="0" tIns="0" bIns="0" anchor="t">
            <a:spAutoFit/>
          </a:bodyPr>
          <a:lstStyle/>
          <a:p>
            <a:pPr algn="l">
              <a:lnSpc>
                <a:spcPct val="115000"/>
              </a:lnSpc>
            </a:pPr>
            <a:r>
              <a:rPr sz="1200" b="0">
                <a:solidFill>
                  <a:srgbClr val="1F2937"/>
                </a:solidFill>
                <a:latin typeface="Helvetica"/>
              </a:rPr>
              <a:t>• Issues surface late in the file</a:t>
            </a:r>
          </a:p>
        </p:txBody>
      </p:sp>
      <p:sp>
        <p:nvSpPr>
          <p:cNvPr id="11" name="TextBox 10"/>
          <p:cNvSpPr txBox="1"/>
          <p:nvPr/>
        </p:nvSpPr>
        <p:spPr>
          <a:xfrm>
            <a:off x="1097280" y="4251960"/>
            <a:ext cx="4617720" cy="365760"/>
          </a:xfrm>
          <a:prstGeom prst="rect">
            <a:avLst/>
          </a:prstGeom>
          <a:noFill/>
        </p:spPr>
        <p:txBody>
          <a:bodyPr wrap="square" lIns="0" rIns="0" tIns="0" bIns="0" anchor="t">
            <a:spAutoFit/>
          </a:bodyPr>
          <a:lstStyle/>
          <a:p>
            <a:pPr algn="l">
              <a:lnSpc>
                <a:spcPct val="115000"/>
              </a:lnSpc>
            </a:pPr>
            <a:r>
              <a:rPr sz="1200" b="0">
                <a:solidFill>
                  <a:srgbClr val="1F2937"/>
                </a:solidFill>
                <a:latin typeface="Helvetica"/>
              </a:rPr>
              <a:t>• No relationship, no referral</a:t>
            </a:r>
          </a:p>
        </p:txBody>
      </p:sp>
      <p:sp>
        <p:nvSpPr>
          <p:cNvPr id="12" name="TextBox 11"/>
          <p:cNvSpPr txBox="1"/>
          <p:nvPr/>
        </p:nvSpPr>
        <p:spPr>
          <a:xfrm>
            <a:off x="1097280" y="4617720"/>
            <a:ext cx="4617720" cy="365760"/>
          </a:xfrm>
          <a:prstGeom prst="rect">
            <a:avLst/>
          </a:prstGeom>
          <a:noFill/>
        </p:spPr>
        <p:txBody>
          <a:bodyPr wrap="square" lIns="0" rIns="0" tIns="0" bIns="0" anchor="t">
            <a:spAutoFit/>
          </a:bodyPr>
          <a:lstStyle/>
          <a:p>
            <a:pPr algn="l">
              <a:lnSpc>
                <a:spcPct val="115000"/>
              </a:lnSpc>
            </a:pPr>
            <a:r>
              <a:rPr sz="1200" b="0">
                <a:solidFill>
                  <a:srgbClr val="1F2937"/>
                </a:solidFill>
                <a:latin typeface="Helvetica"/>
              </a:rPr>
              <a:t>• Missed deal more often than not</a:t>
            </a:r>
          </a:p>
        </p:txBody>
      </p:sp>
      <p:sp>
        <p:nvSpPr>
          <p:cNvPr id="13" name="Rounded Rectangle 12"/>
          <p:cNvSpPr/>
          <p:nvPr/>
        </p:nvSpPr>
        <p:spPr>
          <a:xfrm>
            <a:off x="6355079" y="2651760"/>
            <a:ext cx="5349240" cy="2606040"/>
          </a:xfrm>
          <a:prstGeom prst="roundRect">
            <a:avLst>
              <a:gd name="adj" fmla="val 4000"/>
            </a:avLst>
          </a:prstGeom>
          <a:solidFill>
            <a:srgbClr val="FFE3D2"/>
          </a:solidFill>
          <a:ln w="9525">
            <a:solidFill>
              <a:srgbClr val="F26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39" y="2926080"/>
            <a:ext cx="4617720" cy="365760"/>
          </a:xfrm>
          <a:prstGeom prst="rect">
            <a:avLst/>
          </a:prstGeom>
          <a:noFill/>
        </p:spPr>
        <p:txBody>
          <a:bodyPr wrap="square" lIns="0" rIns="0" tIns="0" bIns="0" anchor="t">
            <a:spAutoFit/>
          </a:bodyPr>
          <a:lstStyle/>
          <a:p>
            <a:pPr algn="l">
              <a:lnSpc>
                <a:spcPct val="115000"/>
              </a:lnSpc>
            </a:pPr>
            <a:r>
              <a:rPr sz="1100" b="1">
                <a:solidFill>
                  <a:srgbClr val="C9531A"/>
                </a:solidFill>
                <a:latin typeface="Helvetica"/>
              </a:rPr>
              <a:t>REAL CONVERSATION</a:t>
            </a:r>
          </a:p>
        </p:txBody>
      </p:sp>
      <p:sp>
        <p:nvSpPr>
          <p:cNvPr id="15" name="TextBox 14"/>
          <p:cNvSpPr txBox="1"/>
          <p:nvPr/>
        </p:nvSpPr>
        <p:spPr>
          <a:xfrm>
            <a:off x="6720839" y="3291840"/>
            <a:ext cx="4617720" cy="457200"/>
          </a:xfrm>
          <a:prstGeom prst="rect">
            <a:avLst/>
          </a:prstGeom>
          <a:noFill/>
        </p:spPr>
        <p:txBody>
          <a:bodyPr wrap="square" lIns="0" rIns="0" tIns="0" bIns="0" anchor="t">
            <a:spAutoFit/>
          </a:bodyPr>
          <a:lstStyle/>
          <a:p>
            <a:pPr algn="l">
              <a:lnSpc>
                <a:spcPct val="115000"/>
              </a:lnSpc>
            </a:pPr>
            <a:r>
              <a:rPr sz="2000" b="1">
                <a:solidFill>
                  <a:srgbClr val="0B1F3A"/>
                </a:solidFill>
                <a:latin typeface="Helvetica"/>
              </a:rPr>
              <a:t>Guidance, not friction.</a:t>
            </a:r>
          </a:p>
        </p:txBody>
      </p:sp>
      <p:sp>
        <p:nvSpPr>
          <p:cNvPr id="16" name="TextBox 15"/>
          <p:cNvSpPr txBox="1"/>
          <p:nvPr/>
        </p:nvSpPr>
        <p:spPr>
          <a:xfrm>
            <a:off x="6720839" y="3886200"/>
            <a:ext cx="4617720" cy="320040"/>
          </a:xfrm>
          <a:prstGeom prst="rect">
            <a:avLst/>
          </a:prstGeom>
          <a:noFill/>
        </p:spPr>
        <p:txBody>
          <a:bodyPr wrap="square" lIns="0" rIns="0" tIns="0" bIns="0" anchor="t">
            <a:spAutoFit/>
          </a:bodyPr>
          <a:lstStyle/>
          <a:p>
            <a:pPr algn="l">
              <a:lnSpc>
                <a:spcPct val="115000"/>
              </a:lnSpc>
            </a:pPr>
            <a:r>
              <a:rPr sz="1200" b="0">
                <a:solidFill>
                  <a:srgbClr val="1F2937"/>
                </a:solidFill>
                <a:latin typeface="Helvetica"/>
              </a:rPr>
              <a:t>• Builds trust before the application</a:t>
            </a:r>
          </a:p>
        </p:txBody>
      </p:sp>
      <p:sp>
        <p:nvSpPr>
          <p:cNvPr id="17" name="TextBox 16"/>
          <p:cNvSpPr txBox="1"/>
          <p:nvPr/>
        </p:nvSpPr>
        <p:spPr>
          <a:xfrm>
            <a:off x="6720839" y="4206240"/>
            <a:ext cx="4617720" cy="320040"/>
          </a:xfrm>
          <a:prstGeom prst="rect">
            <a:avLst/>
          </a:prstGeom>
          <a:noFill/>
        </p:spPr>
        <p:txBody>
          <a:bodyPr wrap="square" lIns="0" rIns="0" tIns="0" bIns="0" anchor="t">
            <a:spAutoFit/>
          </a:bodyPr>
          <a:lstStyle/>
          <a:p>
            <a:pPr algn="l">
              <a:lnSpc>
                <a:spcPct val="115000"/>
              </a:lnSpc>
            </a:pPr>
            <a:r>
              <a:rPr sz="1200" b="0">
                <a:solidFill>
                  <a:srgbClr val="1F2937"/>
                </a:solidFill>
                <a:latin typeface="Helvetica"/>
              </a:rPr>
              <a:t>• Surfaces income, credit, and timeline details</a:t>
            </a:r>
          </a:p>
        </p:txBody>
      </p:sp>
      <p:sp>
        <p:nvSpPr>
          <p:cNvPr id="18" name="TextBox 17"/>
          <p:cNvSpPr txBox="1"/>
          <p:nvPr/>
        </p:nvSpPr>
        <p:spPr>
          <a:xfrm>
            <a:off x="6720839" y="4526279"/>
            <a:ext cx="4617720" cy="320040"/>
          </a:xfrm>
          <a:prstGeom prst="rect">
            <a:avLst/>
          </a:prstGeom>
          <a:noFill/>
        </p:spPr>
        <p:txBody>
          <a:bodyPr wrap="square" lIns="0" rIns="0" tIns="0" bIns="0" anchor="t">
            <a:spAutoFit/>
          </a:bodyPr>
          <a:lstStyle/>
          <a:p>
            <a:pPr algn="l">
              <a:lnSpc>
                <a:spcPct val="115000"/>
              </a:lnSpc>
            </a:pPr>
            <a:r>
              <a:rPr sz="1200" b="0">
                <a:solidFill>
                  <a:srgbClr val="1F2937"/>
                </a:solidFill>
                <a:latin typeface="Helvetica"/>
              </a:rPr>
              <a:t>• Creates a cleaner, faster file</a:t>
            </a:r>
          </a:p>
        </p:txBody>
      </p:sp>
      <p:sp>
        <p:nvSpPr>
          <p:cNvPr id="19" name="TextBox 18"/>
          <p:cNvSpPr txBox="1"/>
          <p:nvPr/>
        </p:nvSpPr>
        <p:spPr>
          <a:xfrm>
            <a:off x="6720839" y="4846320"/>
            <a:ext cx="4617720" cy="320040"/>
          </a:xfrm>
          <a:prstGeom prst="rect">
            <a:avLst/>
          </a:prstGeom>
          <a:noFill/>
        </p:spPr>
        <p:txBody>
          <a:bodyPr wrap="square" lIns="0" rIns="0" tIns="0" bIns="0" anchor="t">
            <a:spAutoFit/>
          </a:bodyPr>
          <a:lstStyle/>
          <a:p>
            <a:pPr algn="l">
              <a:lnSpc>
                <a:spcPct val="115000"/>
              </a:lnSpc>
            </a:pPr>
            <a:r>
              <a:rPr sz="1200" b="0">
                <a:solidFill>
                  <a:srgbClr val="1F2937"/>
                </a:solidFill>
                <a:latin typeface="Helvetica"/>
              </a:rPr>
              <a:t>• Earns the referral at the end</a:t>
            </a:r>
          </a:p>
        </p:txBody>
      </p:sp>
      <p:sp>
        <p:nvSpPr>
          <p:cNvPr id="20" name="Rounded Rectangle 19"/>
          <p:cNvSpPr/>
          <p:nvPr/>
        </p:nvSpPr>
        <p:spPr>
          <a:xfrm>
            <a:off x="1828800" y="5532120"/>
            <a:ext cx="8503920" cy="777240"/>
          </a:xfrm>
          <a:prstGeom prst="roundRect">
            <a:avLst>
              <a:gd name="adj" fmla="val 18000"/>
            </a:avLst>
          </a:prstGeom>
          <a:solidFill>
            <a:srgbClr val="FFE3D2"/>
          </a:solidFill>
          <a:ln w="19050">
            <a:solidFill>
              <a:srgbClr val="F26A1F"/>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27000" bIns="127000"/>
          <a:lstStyle/>
          <a:p>
            <a:pPr algn="l"/>
            <a:r>
              <a:rPr sz="1200" b="1">
                <a:solidFill>
                  <a:srgbClr val="C9531A"/>
                </a:solidFill>
                <a:latin typeface="Helvetica"/>
              </a:rPr>
              <a:t>PAUSE FOR LIVE Q&amp;A</a:t>
            </a:r>
          </a:p>
          <a:p>
            <a:pPr algn="l">
              <a:spcBef>
                <a:spcPts val="400"/>
              </a:spcBef>
            </a:pPr>
            <a:r>
              <a:rPr sz="1400">
                <a:solidFill>
                  <a:srgbClr val="1F2937"/>
                </a:solidFill>
                <a:latin typeface="Helvetica"/>
              </a:rPr>
              <a:t>Q&amp;A 3. What happens when a borrower gets only a link and no real conversation?</a:t>
            </a:r>
          </a:p>
        </p:txBody>
      </p:sp>
      <p:sp>
        <p:nvSpPr>
          <p:cNvPr id="21" name="TextBox 20"/>
          <p:cNvSpPr txBox="1"/>
          <p:nvPr/>
        </p:nvSpPr>
        <p:spPr>
          <a:xfrm>
            <a:off x="457200" y="6446520"/>
            <a:ext cx="11277295" cy="320040"/>
          </a:xfrm>
          <a:prstGeom prst="rect">
            <a:avLst/>
          </a:prstGeom>
          <a:noFill/>
        </p:spPr>
        <p:txBody>
          <a:bodyPr wrap="none" lIns="0" rIns="0" tIns="0" bIns="0">
            <a:spAutoFit/>
          </a:bodyPr>
          <a:lstStyle/>
          <a:p>
            <a:pPr algn="l"/>
            <a:r>
              <a:rPr sz="900">
                <a:solidFill>
                  <a:srgbClr val="475569"/>
                </a:solidFill>
                <a:latin typeface="Helvetica"/>
              </a:rPr>
              <a:t>Elite Sales and Marketing Training 101  |  Mortgage Sales Foundation  |  Internal training only</a:t>
            </a:r>
          </a:p>
        </p:txBody>
      </p:sp>
      <p:sp>
        <p:nvSpPr>
          <p:cNvPr id="22" name="TextBox 21"/>
          <p:cNvSpPr txBox="1"/>
          <p:nvPr/>
        </p:nvSpPr>
        <p:spPr>
          <a:xfrm>
            <a:off x="10789920" y="6446520"/>
            <a:ext cx="1371600" cy="320040"/>
          </a:xfrm>
          <a:prstGeom prst="rect">
            <a:avLst/>
          </a:prstGeom>
          <a:noFill/>
        </p:spPr>
        <p:txBody>
          <a:bodyPr wrap="none" lIns="0" rIns="0" tIns="0" bIns="0">
            <a:spAutoFit/>
          </a:bodyPr>
          <a:lstStyle/>
          <a:p>
            <a:pPr algn="r"/>
            <a: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rk-hero-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8172A">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502920"/>
            <a:ext cx="731520" cy="38100"/>
          </a:xfrm>
          <a:prstGeom prst="rect">
            <a:avLst/>
          </a:prstGeom>
          <a:solidFill>
            <a:srgbClr val="F26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
            <a:ext cx="9144000" cy="320040"/>
          </a:xfrm>
          <a:prstGeom prst="rect">
            <a:avLst/>
          </a:prstGeom>
          <a:noFill/>
        </p:spPr>
        <p:txBody>
          <a:bodyPr wrap="square" lIns="0" rIns="0" tIns="0" bIns="0" anchor="t">
            <a:spAutoFit/>
          </a:bodyPr>
          <a:lstStyle/>
          <a:p>
            <a:pPr algn="l">
              <a:lnSpc>
                <a:spcPct val="115000"/>
              </a:lnSpc>
            </a:pPr>
            <a:r>
              <a:rPr sz="1100" b="1">
                <a:solidFill>
                  <a:srgbClr val="F26A1F"/>
                </a:solidFill>
                <a:latin typeface="Helvetica"/>
              </a:rPr>
              <a:t>FIRST REFERRAL PARTNER CONVERSATION</a:t>
            </a:r>
          </a:p>
        </p:txBody>
      </p:sp>
      <p:sp>
        <p:nvSpPr>
          <p:cNvPr id="6" name="TextBox 5"/>
          <p:cNvSpPr txBox="1"/>
          <p:nvPr/>
        </p:nvSpPr>
        <p:spPr>
          <a:xfrm>
            <a:off x="731520" y="1005840"/>
            <a:ext cx="10698480" cy="1097280"/>
          </a:xfrm>
          <a:prstGeom prst="rect">
            <a:avLst/>
          </a:prstGeom>
          <a:noFill/>
        </p:spPr>
        <p:txBody>
          <a:bodyPr wrap="square" lIns="0" rIns="0" tIns="0" bIns="0" anchor="t">
            <a:spAutoFit/>
          </a:bodyPr>
          <a:lstStyle/>
          <a:p>
            <a:pPr algn="l">
              <a:lnSpc>
                <a:spcPct val="115000"/>
              </a:lnSpc>
            </a:pPr>
            <a:r>
              <a:rPr sz="3600" b="1">
                <a:solidFill>
                  <a:srgbClr val="FFFFFF"/>
                </a:solidFill>
                <a:latin typeface="Helvetica"/>
              </a:rPr>
              <a:t>Earn the referral by being useful.</a:t>
            </a:r>
          </a:p>
        </p:txBody>
      </p:sp>
      <p:sp>
        <p:nvSpPr>
          <p:cNvPr id="7" name="TextBox 6"/>
          <p:cNvSpPr txBox="1"/>
          <p:nvPr/>
        </p:nvSpPr>
        <p:spPr>
          <a:xfrm>
            <a:off x="731520" y="1920240"/>
            <a:ext cx="10698480" cy="502920"/>
          </a:xfrm>
          <a:prstGeom prst="rect">
            <a:avLst/>
          </a:prstGeom>
          <a:noFill/>
        </p:spPr>
        <p:txBody>
          <a:bodyPr wrap="square" lIns="0" rIns="0" tIns="0" bIns="0" anchor="t">
            <a:spAutoFit/>
          </a:bodyPr>
          <a:lstStyle/>
          <a:p>
            <a:pPr algn="l">
              <a:lnSpc>
                <a:spcPct val="115000"/>
              </a:lnSpc>
            </a:pPr>
            <a:r>
              <a:rPr sz="1400" b="0">
                <a:solidFill>
                  <a:srgbClr val="E2E8F0"/>
                </a:solidFill>
                <a:latin typeface="Helvetica"/>
              </a:rPr>
              <a:t>Realtors do not owe you referrals. They send business to LOs who make their lives easier.</a:t>
            </a:r>
          </a:p>
        </p:txBody>
      </p:sp>
      <p:sp>
        <p:nvSpPr>
          <p:cNvPr id="8" name="Rounded Rectangle 7"/>
          <p:cNvSpPr/>
          <p:nvPr/>
        </p:nvSpPr>
        <p:spPr>
          <a:xfrm>
            <a:off x="731520" y="2834640"/>
            <a:ext cx="3520440" cy="2377440"/>
          </a:xfrm>
          <a:prstGeom prst="roundRect">
            <a:avLst>
              <a:gd name="adj" fmla="val 4000"/>
            </a:avLst>
          </a:prstGeom>
          <a:solidFill>
            <a:srgbClr val="0B1F3A"/>
          </a:solidFill>
          <a:ln w="9525">
            <a:solidFill>
              <a:srgbClr val="F26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108960"/>
            <a:ext cx="548640" cy="548640"/>
          </a:xfrm>
          <a:prstGeom prst="rect">
            <a:avLst/>
          </a:prstGeom>
          <a:noFill/>
        </p:spPr>
        <p:txBody>
          <a:bodyPr wrap="square" lIns="0" rIns="0" tIns="0" bIns="0" anchor="t">
            <a:spAutoFit/>
          </a:bodyPr>
          <a:lstStyle/>
          <a:p>
            <a:pPr algn="l">
              <a:lnSpc>
                <a:spcPct val="115000"/>
              </a:lnSpc>
            </a:pPr>
            <a:r>
              <a:rPr sz="2200" b="1">
                <a:solidFill>
                  <a:srgbClr val="F26A1F"/>
                </a:solidFill>
                <a:latin typeface="Helvetica"/>
              </a:rPr>
              <a:t>01</a:t>
            </a:r>
          </a:p>
        </p:txBody>
      </p:sp>
      <p:sp>
        <p:nvSpPr>
          <p:cNvPr id="10" name="TextBox 9"/>
          <p:cNvSpPr txBox="1"/>
          <p:nvPr/>
        </p:nvSpPr>
        <p:spPr>
          <a:xfrm>
            <a:off x="1097280" y="3749040"/>
            <a:ext cx="2788920" cy="548640"/>
          </a:xfrm>
          <a:prstGeom prst="rect">
            <a:avLst/>
          </a:prstGeom>
          <a:noFill/>
        </p:spPr>
        <p:txBody>
          <a:bodyPr wrap="square" lIns="0" rIns="0" tIns="0" bIns="0" anchor="t">
            <a:spAutoFit/>
          </a:bodyPr>
          <a:lstStyle/>
          <a:p>
            <a:pPr algn="l">
              <a:lnSpc>
                <a:spcPct val="115000"/>
              </a:lnSpc>
            </a:pPr>
            <a:r>
              <a:rPr sz="2200" b="1">
                <a:solidFill>
                  <a:srgbClr val="FFFFFF"/>
                </a:solidFill>
                <a:latin typeface="Helvetica"/>
              </a:rPr>
              <a:t>Speed</a:t>
            </a:r>
          </a:p>
        </p:txBody>
      </p:sp>
      <p:sp>
        <p:nvSpPr>
          <p:cNvPr id="11" name="TextBox 10"/>
          <p:cNvSpPr txBox="1"/>
          <p:nvPr/>
        </p:nvSpPr>
        <p:spPr>
          <a:xfrm>
            <a:off x="1097280" y="4343400"/>
            <a:ext cx="2788920" cy="777240"/>
          </a:xfrm>
          <a:prstGeom prst="rect">
            <a:avLst/>
          </a:prstGeom>
          <a:noFill/>
        </p:spPr>
        <p:txBody>
          <a:bodyPr wrap="square" lIns="0" rIns="0" tIns="0" bIns="0" anchor="t">
            <a:spAutoFit/>
          </a:bodyPr>
          <a:lstStyle/>
          <a:p>
            <a:pPr algn="l">
              <a:lnSpc>
                <a:spcPct val="115000"/>
              </a:lnSpc>
            </a:pPr>
            <a:r>
              <a:rPr sz="1200" b="0">
                <a:solidFill>
                  <a:srgbClr val="E2E8F0"/>
                </a:solidFill>
                <a:latin typeface="Helvetica"/>
              </a:rPr>
              <a:t>Fast pre approvals and same day turnarounds protect listings and buyers.</a:t>
            </a:r>
          </a:p>
        </p:txBody>
      </p:sp>
      <p:sp>
        <p:nvSpPr>
          <p:cNvPr id="12" name="Rounded Rectangle 11"/>
          <p:cNvSpPr/>
          <p:nvPr/>
        </p:nvSpPr>
        <p:spPr>
          <a:xfrm>
            <a:off x="4434840" y="2834640"/>
            <a:ext cx="3520440" cy="2377440"/>
          </a:xfrm>
          <a:prstGeom prst="roundRect">
            <a:avLst>
              <a:gd name="adj" fmla="val 4000"/>
            </a:avLst>
          </a:prstGeom>
          <a:solidFill>
            <a:srgbClr val="0B1F3A"/>
          </a:solidFill>
          <a:ln w="9525">
            <a:solidFill>
              <a:srgbClr val="F26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3108960"/>
            <a:ext cx="548640" cy="548640"/>
          </a:xfrm>
          <a:prstGeom prst="rect">
            <a:avLst/>
          </a:prstGeom>
          <a:noFill/>
        </p:spPr>
        <p:txBody>
          <a:bodyPr wrap="square" lIns="0" rIns="0" tIns="0" bIns="0" anchor="t">
            <a:spAutoFit/>
          </a:bodyPr>
          <a:lstStyle/>
          <a:p>
            <a:pPr algn="l">
              <a:lnSpc>
                <a:spcPct val="115000"/>
              </a:lnSpc>
            </a:pPr>
            <a:r>
              <a:rPr sz="2200" b="1">
                <a:solidFill>
                  <a:srgbClr val="F26A1F"/>
                </a:solidFill>
                <a:latin typeface="Helvetica"/>
              </a:rPr>
              <a:t>02</a:t>
            </a:r>
          </a:p>
        </p:txBody>
      </p:sp>
      <p:sp>
        <p:nvSpPr>
          <p:cNvPr id="14" name="TextBox 13"/>
          <p:cNvSpPr txBox="1"/>
          <p:nvPr/>
        </p:nvSpPr>
        <p:spPr>
          <a:xfrm>
            <a:off x="4800600" y="3749040"/>
            <a:ext cx="2788920" cy="548640"/>
          </a:xfrm>
          <a:prstGeom prst="rect">
            <a:avLst/>
          </a:prstGeom>
          <a:noFill/>
        </p:spPr>
        <p:txBody>
          <a:bodyPr wrap="square" lIns="0" rIns="0" tIns="0" bIns="0" anchor="t">
            <a:spAutoFit/>
          </a:bodyPr>
          <a:lstStyle/>
          <a:p>
            <a:pPr algn="l">
              <a:lnSpc>
                <a:spcPct val="115000"/>
              </a:lnSpc>
            </a:pPr>
            <a:r>
              <a:rPr sz="2200" b="1">
                <a:solidFill>
                  <a:srgbClr val="FFFFFF"/>
                </a:solidFill>
                <a:latin typeface="Helvetica"/>
              </a:rPr>
              <a:t>Communication</a:t>
            </a:r>
          </a:p>
        </p:txBody>
      </p:sp>
      <p:sp>
        <p:nvSpPr>
          <p:cNvPr id="15" name="TextBox 14"/>
          <p:cNvSpPr txBox="1"/>
          <p:nvPr/>
        </p:nvSpPr>
        <p:spPr>
          <a:xfrm>
            <a:off x="4800600" y="4343400"/>
            <a:ext cx="2788920" cy="777240"/>
          </a:xfrm>
          <a:prstGeom prst="rect">
            <a:avLst/>
          </a:prstGeom>
          <a:noFill/>
        </p:spPr>
        <p:txBody>
          <a:bodyPr wrap="square" lIns="0" rIns="0" tIns="0" bIns="0" anchor="t">
            <a:spAutoFit/>
          </a:bodyPr>
          <a:lstStyle/>
          <a:p>
            <a:pPr algn="l">
              <a:lnSpc>
                <a:spcPct val="115000"/>
              </a:lnSpc>
            </a:pPr>
            <a:r>
              <a:rPr sz="1200" b="0">
                <a:solidFill>
                  <a:srgbClr val="E2E8F0"/>
                </a:solidFill>
                <a:latin typeface="Helvetica"/>
              </a:rPr>
              <a:t>Proactive updates. Listing agent calls on every offer.</a:t>
            </a:r>
          </a:p>
        </p:txBody>
      </p:sp>
      <p:sp>
        <p:nvSpPr>
          <p:cNvPr id="16" name="Rounded Rectangle 15"/>
          <p:cNvSpPr/>
          <p:nvPr/>
        </p:nvSpPr>
        <p:spPr>
          <a:xfrm>
            <a:off x="8138160" y="2834640"/>
            <a:ext cx="3520440" cy="2377440"/>
          </a:xfrm>
          <a:prstGeom prst="roundRect">
            <a:avLst>
              <a:gd name="adj" fmla="val 4000"/>
            </a:avLst>
          </a:prstGeom>
          <a:solidFill>
            <a:srgbClr val="0B1F3A"/>
          </a:solidFill>
          <a:ln w="9525">
            <a:solidFill>
              <a:srgbClr val="F26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0" y="3108960"/>
            <a:ext cx="548640" cy="548640"/>
          </a:xfrm>
          <a:prstGeom prst="rect">
            <a:avLst/>
          </a:prstGeom>
          <a:noFill/>
        </p:spPr>
        <p:txBody>
          <a:bodyPr wrap="square" lIns="0" rIns="0" tIns="0" bIns="0" anchor="t">
            <a:spAutoFit/>
          </a:bodyPr>
          <a:lstStyle/>
          <a:p>
            <a:pPr algn="l">
              <a:lnSpc>
                <a:spcPct val="115000"/>
              </a:lnSpc>
            </a:pPr>
            <a:r>
              <a:rPr sz="2200" b="1">
                <a:solidFill>
                  <a:srgbClr val="F26A1F"/>
                </a:solidFill>
                <a:latin typeface="Helvetica"/>
              </a:rPr>
              <a:t>03</a:t>
            </a:r>
          </a:p>
        </p:txBody>
      </p:sp>
      <p:sp>
        <p:nvSpPr>
          <p:cNvPr id="18" name="TextBox 17"/>
          <p:cNvSpPr txBox="1"/>
          <p:nvPr/>
        </p:nvSpPr>
        <p:spPr>
          <a:xfrm>
            <a:off x="8503920" y="3749040"/>
            <a:ext cx="2788920" cy="548640"/>
          </a:xfrm>
          <a:prstGeom prst="rect">
            <a:avLst/>
          </a:prstGeom>
          <a:noFill/>
        </p:spPr>
        <p:txBody>
          <a:bodyPr wrap="square" lIns="0" rIns="0" tIns="0" bIns="0" anchor="t">
            <a:spAutoFit/>
          </a:bodyPr>
          <a:lstStyle/>
          <a:p>
            <a:pPr algn="l">
              <a:lnSpc>
                <a:spcPct val="115000"/>
              </a:lnSpc>
            </a:pPr>
            <a:r>
              <a:rPr sz="2200" b="1">
                <a:solidFill>
                  <a:srgbClr val="FFFFFF"/>
                </a:solidFill>
                <a:latin typeface="Helvetica"/>
              </a:rPr>
              <a:t>Closing Certainty</a:t>
            </a:r>
          </a:p>
        </p:txBody>
      </p:sp>
      <p:sp>
        <p:nvSpPr>
          <p:cNvPr id="19" name="TextBox 18"/>
          <p:cNvSpPr txBox="1"/>
          <p:nvPr/>
        </p:nvSpPr>
        <p:spPr>
          <a:xfrm>
            <a:off x="8503920" y="4343400"/>
            <a:ext cx="2788920" cy="777240"/>
          </a:xfrm>
          <a:prstGeom prst="rect">
            <a:avLst/>
          </a:prstGeom>
          <a:noFill/>
        </p:spPr>
        <p:txBody>
          <a:bodyPr wrap="square" lIns="0" rIns="0" tIns="0" bIns="0" anchor="t">
            <a:spAutoFit/>
          </a:bodyPr>
          <a:lstStyle/>
          <a:p>
            <a:pPr algn="l">
              <a:lnSpc>
                <a:spcPct val="115000"/>
              </a:lnSpc>
            </a:pPr>
            <a:r>
              <a:rPr sz="1200" b="0">
                <a:solidFill>
                  <a:srgbClr val="E2E8F0"/>
                </a:solidFill>
                <a:latin typeface="Helvetica"/>
              </a:rPr>
              <a:t>Clean files and clear timelines. Fewer surprises. More deals close.</a:t>
            </a:r>
          </a:p>
        </p:txBody>
      </p:sp>
      <p:sp>
        <p:nvSpPr>
          <p:cNvPr id="20" name="Rounded Rectangle 19"/>
          <p:cNvSpPr/>
          <p:nvPr/>
        </p:nvSpPr>
        <p:spPr>
          <a:xfrm>
            <a:off x="1828800" y="5486400"/>
            <a:ext cx="8503920" cy="868680"/>
          </a:xfrm>
          <a:prstGeom prst="roundRect">
            <a:avLst>
              <a:gd name="adj" fmla="val 18000"/>
            </a:avLst>
          </a:prstGeom>
          <a:solidFill>
            <a:srgbClr val="FFE3D2"/>
          </a:solidFill>
          <a:ln w="19050">
            <a:solidFill>
              <a:srgbClr val="F26A1F"/>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27000" bIns="127000"/>
          <a:lstStyle/>
          <a:p>
            <a:pPr algn="l"/>
            <a:r>
              <a:rPr sz="1200" b="1">
                <a:solidFill>
                  <a:srgbClr val="C9531A"/>
                </a:solidFill>
                <a:latin typeface="Helvetica"/>
              </a:rPr>
              <a:t>PAUSE FOR LIVE Q&amp;A</a:t>
            </a:r>
          </a:p>
          <a:p>
            <a:pPr algn="l">
              <a:spcBef>
                <a:spcPts val="400"/>
              </a:spcBef>
            </a:pPr>
            <a:r>
              <a:rPr sz="1400">
                <a:solidFill>
                  <a:srgbClr val="1F2937"/>
                </a:solidFill>
                <a:latin typeface="Helvetica"/>
              </a:rPr>
              <a:t>Q&amp;A 4. What would make a Realtor trust you enough to send one real buyer?</a:t>
            </a:r>
          </a:p>
        </p:txBody>
      </p:sp>
      <p:sp>
        <p:nvSpPr>
          <p:cNvPr id="21" name="TextBox 20"/>
          <p:cNvSpPr txBox="1"/>
          <p:nvPr/>
        </p:nvSpPr>
        <p:spPr>
          <a:xfrm>
            <a:off x="457200" y="6446520"/>
            <a:ext cx="11277295" cy="320040"/>
          </a:xfrm>
          <a:prstGeom prst="rect">
            <a:avLst/>
          </a:prstGeom>
          <a:noFill/>
        </p:spPr>
        <p:txBody>
          <a:bodyPr wrap="none" lIns="0" rIns="0" tIns="0" bIns="0">
            <a:spAutoFit/>
          </a:bodyPr>
          <a:lstStyle/>
          <a:p>
            <a:pPr algn="l"/>
            <a:r>
              <a:rPr sz="900">
                <a:solidFill>
                  <a:srgbClr val="FFFFFF"/>
                </a:solidFill>
                <a:latin typeface="Helvetica"/>
              </a:rPr>
              <a:t>Elite Sales and Marketing Training 101  |  Mortgage Sales Foundation  |  Internal training only</a:t>
            </a:r>
          </a:p>
        </p:txBody>
      </p:sp>
      <p:sp>
        <p:nvSpPr>
          <p:cNvPr id="22" name="TextBox 21"/>
          <p:cNvSpPr txBox="1"/>
          <p:nvPr/>
        </p:nvSpPr>
        <p:spPr>
          <a:xfrm>
            <a:off x="10789920" y="6446520"/>
            <a:ext cx="1371600" cy="320040"/>
          </a:xfrm>
          <a:prstGeom prst="rect">
            <a:avLst/>
          </a:prstGeom>
          <a:noFill/>
        </p:spPr>
        <p:txBody>
          <a:bodyPr wrap="none" lIns="0" rIns="0" tIns="0" bIns="0">
            <a:spAutoFit/>
          </a:bodyPr>
          <a:lstStyle/>
          <a:p>
            <a:pPr algn="r"/>
            <a: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02920"/>
            <a:ext cx="731520" cy="38100"/>
          </a:xfrm>
          <a:prstGeom prst="rect">
            <a:avLst/>
          </a:prstGeom>
          <a:solidFill>
            <a:srgbClr val="F26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9144000" cy="320040"/>
          </a:xfrm>
          <a:prstGeom prst="rect">
            <a:avLst/>
          </a:prstGeom>
          <a:noFill/>
        </p:spPr>
        <p:txBody>
          <a:bodyPr wrap="square" lIns="0" rIns="0" tIns="0" bIns="0" anchor="t">
            <a:spAutoFit/>
          </a:bodyPr>
          <a:lstStyle/>
          <a:p>
            <a:pPr algn="l">
              <a:lnSpc>
                <a:spcPct val="115000"/>
              </a:lnSpc>
            </a:pPr>
            <a:r>
              <a:rPr sz="1100" b="1">
                <a:solidFill>
                  <a:srgbClr val="F26A1F"/>
                </a:solidFill>
                <a:latin typeface="Helvetica"/>
              </a:rPr>
              <a:t>CONFIDENCE WITHOUT FAKE HYPE</a:t>
            </a:r>
          </a:p>
        </p:txBody>
      </p:sp>
      <p:sp>
        <p:nvSpPr>
          <p:cNvPr id="5" name="TextBox 4"/>
          <p:cNvSpPr txBox="1"/>
          <p:nvPr/>
        </p:nvSpPr>
        <p:spPr>
          <a:xfrm>
            <a:off x="731520" y="1005840"/>
            <a:ext cx="10698480" cy="1097280"/>
          </a:xfrm>
          <a:prstGeom prst="rect">
            <a:avLst/>
          </a:prstGeom>
          <a:noFill/>
        </p:spPr>
        <p:txBody>
          <a:bodyPr wrap="square" lIns="0" rIns="0" tIns="0" bIns="0" anchor="t">
            <a:spAutoFit/>
          </a:bodyPr>
          <a:lstStyle/>
          <a:p>
            <a:pPr algn="l">
              <a:lnSpc>
                <a:spcPct val="115000"/>
              </a:lnSpc>
            </a:pPr>
            <a:r>
              <a:rPr sz="3600" b="1">
                <a:solidFill>
                  <a:srgbClr val="0B1F3A"/>
                </a:solidFill>
                <a:latin typeface="Helvetica"/>
              </a:rPr>
              <a:t>Confidence is process and clarity.</a:t>
            </a:r>
          </a:p>
        </p:txBody>
      </p:sp>
      <p:sp>
        <p:nvSpPr>
          <p:cNvPr id="6" name="TextBox 5"/>
          <p:cNvSpPr txBox="1"/>
          <p:nvPr/>
        </p:nvSpPr>
        <p:spPr>
          <a:xfrm>
            <a:off x="731520" y="2194560"/>
            <a:ext cx="4572000" cy="2011680"/>
          </a:xfrm>
          <a:prstGeom prst="rect">
            <a:avLst/>
          </a:prstGeom>
          <a:noFill/>
        </p:spPr>
        <p:txBody>
          <a:bodyPr wrap="square" lIns="0" rIns="0" tIns="0" bIns="0" anchor="t">
            <a:spAutoFit/>
          </a:bodyPr>
          <a:lstStyle/>
          <a:p>
            <a:pPr algn="l">
              <a:lnSpc>
                <a:spcPct val="90000"/>
              </a:lnSpc>
            </a:pPr>
            <a:r>
              <a:rPr sz="12000" b="1">
                <a:solidFill>
                  <a:srgbClr val="F26A1F"/>
                </a:solidFill>
                <a:latin typeface="Helvetica"/>
              </a:rPr>
              <a:t>Calm.</a:t>
            </a:r>
          </a:p>
        </p:txBody>
      </p:sp>
      <p:sp>
        <p:nvSpPr>
          <p:cNvPr id="7" name="Rounded Rectangle 6"/>
          <p:cNvSpPr/>
          <p:nvPr/>
        </p:nvSpPr>
        <p:spPr>
          <a:xfrm>
            <a:off x="5852160" y="2194560"/>
            <a:ext cx="5577840" cy="685800"/>
          </a:xfrm>
          <a:prstGeom prst="roundRect">
            <a:avLst>
              <a:gd name="adj" fmla="val 4000"/>
            </a:avLst>
          </a:prstGeom>
          <a:solidFill>
            <a:srgbClr val="F4F6F8"/>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0" y="2267712"/>
            <a:ext cx="5029200" cy="320040"/>
          </a:xfrm>
          <a:prstGeom prst="rect">
            <a:avLst/>
          </a:prstGeom>
          <a:noFill/>
        </p:spPr>
        <p:txBody>
          <a:bodyPr wrap="square" lIns="0" rIns="0" tIns="0" bIns="0" anchor="t">
            <a:spAutoFit/>
          </a:bodyPr>
          <a:lstStyle/>
          <a:p>
            <a:pPr algn="l">
              <a:lnSpc>
                <a:spcPct val="115000"/>
              </a:lnSpc>
            </a:pPr>
            <a:r>
              <a:rPr sz="1400" b="1">
                <a:solidFill>
                  <a:srgbClr val="0B1F3A"/>
                </a:solidFill>
                <a:latin typeface="Helvetica"/>
              </a:rPr>
              <a:t>Not overpromising</a:t>
            </a:r>
          </a:p>
        </p:txBody>
      </p:sp>
      <p:sp>
        <p:nvSpPr>
          <p:cNvPr id="9" name="TextBox 8"/>
          <p:cNvSpPr txBox="1"/>
          <p:nvPr/>
        </p:nvSpPr>
        <p:spPr>
          <a:xfrm>
            <a:off x="6126480" y="2560320"/>
            <a:ext cx="5029200" cy="320040"/>
          </a:xfrm>
          <a:prstGeom prst="rect">
            <a:avLst/>
          </a:prstGeom>
          <a:noFill/>
        </p:spPr>
        <p:txBody>
          <a:bodyPr wrap="square" lIns="0" rIns="0" tIns="0" bIns="0" anchor="t">
            <a:spAutoFit/>
          </a:bodyPr>
          <a:lstStyle/>
          <a:p>
            <a:pPr algn="l">
              <a:lnSpc>
                <a:spcPct val="115000"/>
              </a:lnSpc>
            </a:pPr>
            <a:r>
              <a:rPr sz="1100" b="0">
                <a:solidFill>
                  <a:srgbClr val="1F2937"/>
                </a:solidFill>
                <a:latin typeface="Helvetica"/>
              </a:rPr>
              <a:t>Confidence does not need to oversell the outcome.</a:t>
            </a:r>
          </a:p>
        </p:txBody>
      </p:sp>
      <p:sp>
        <p:nvSpPr>
          <p:cNvPr id="10" name="Rounded Rectangle 9"/>
          <p:cNvSpPr/>
          <p:nvPr/>
        </p:nvSpPr>
        <p:spPr>
          <a:xfrm>
            <a:off x="5852160" y="2971800"/>
            <a:ext cx="5577840" cy="685800"/>
          </a:xfrm>
          <a:prstGeom prst="roundRect">
            <a:avLst>
              <a:gd name="adj" fmla="val 4000"/>
            </a:avLst>
          </a:prstGeom>
          <a:solidFill>
            <a:srgbClr val="F4F6F8"/>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0" y="3044952"/>
            <a:ext cx="5029200" cy="320040"/>
          </a:xfrm>
          <a:prstGeom prst="rect">
            <a:avLst/>
          </a:prstGeom>
          <a:noFill/>
        </p:spPr>
        <p:txBody>
          <a:bodyPr wrap="square" lIns="0" rIns="0" tIns="0" bIns="0" anchor="t">
            <a:spAutoFit/>
          </a:bodyPr>
          <a:lstStyle/>
          <a:p>
            <a:pPr algn="l">
              <a:lnSpc>
                <a:spcPct val="115000"/>
              </a:lnSpc>
            </a:pPr>
            <a:r>
              <a:rPr sz="1400" b="1">
                <a:solidFill>
                  <a:srgbClr val="0B1F3A"/>
                </a:solidFill>
                <a:latin typeface="Helvetica"/>
              </a:rPr>
              <a:t>Not quoting teaser numbers</a:t>
            </a:r>
          </a:p>
        </p:txBody>
      </p:sp>
      <p:sp>
        <p:nvSpPr>
          <p:cNvPr id="12" name="TextBox 11"/>
          <p:cNvSpPr txBox="1"/>
          <p:nvPr/>
        </p:nvSpPr>
        <p:spPr>
          <a:xfrm>
            <a:off x="6126480" y="3337560"/>
            <a:ext cx="5029200" cy="320040"/>
          </a:xfrm>
          <a:prstGeom prst="rect">
            <a:avLst/>
          </a:prstGeom>
          <a:noFill/>
        </p:spPr>
        <p:txBody>
          <a:bodyPr wrap="square" lIns="0" rIns="0" tIns="0" bIns="0" anchor="t">
            <a:spAutoFit/>
          </a:bodyPr>
          <a:lstStyle/>
          <a:p>
            <a:pPr algn="l">
              <a:lnSpc>
                <a:spcPct val="115000"/>
              </a:lnSpc>
            </a:pPr>
            <a:r>
              <a:rPr sz="1100" b="0">
                <a:solidFill>
                  <a:srgbClr val="1F2937"/>
                </a:solidFill>
                <a:latin typeface="Helvetica"/>
              </a:rPr>
              <a:t>Confidence does not lead with a rate to impress.</a:t>
            </a:r>
          </a:p>
        </p:txBody>
      </p:sp>
      <p:sp>
        <p:nvSpPr>
          <p:cNvPr id="13" name="Rounded Rectangle 12"/>
          <p:cNvSpPr/>
          <p:nvPr/>
        </p:nvSpPr>
        <p:spPr>
          <a:xfrm>
            <a:off x="5852160" y="3749039"/>
            <a:ext cx="5577840" cy="685800"/>
          </a:xfrm>
          <a:prstGeom prst="roundRect">
            <a:avLst>
              <a:gd name="adj" fmla="val 4000"/>
            </a:avLst>
          </a:prstGeom>
          <a:solidFill>
            <a:srgbClr val="F4F6F8"/>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0" y="3822191"/>
            <a:ext cx="5029200" cy="320040"/>
          </a:xfrm>
          <a:prstGeom prst="rect">
            <a:avLst/>
          </a:prstGeom>
          <a:noFill/>
        </p:spPr>
        <p:txBody>
          <a:bodyPr wrap="square" lIns="0" rIns="0" tIns="0" bIns="0" anchor="t">
            <a:spAutoFit/>
          </a:bodyPr>
          <a:lstStyle/>
          <a:p>
            <a:pPr algn="l">
              <a:lnSpc>
                <a:spcPct val="115000"/>
              </a:lnSpc>
            </a:pPr>
            <a:r>
              <a:rPr sz="1400" b="1">
                <a:solidFill>
                  <a:srgbClr val="0B1F3A"/>
                </a:solidFill>
                <a:latin typeface="Helvetica"/>
              </a:rPr>
              <a:t>A clear next step</a:t>
            </a:r>
          </a:p>
        </p:txBody>
      </p:sp>
      <p:sp>
        <p:nvSpPr>
          <p:cNvPr id="15" name="TextBox 14"/>
          <p:cNvSpPr txBox="1"/>
          <p:nvPr/>
        </p:nvSpPr>
        <p:spPr>
          <a:xfrm>
            <a:off x="6126480" y="4114799"/>
            <a:ext cx="5029200" cy="320040"/>
          </a:xfrm>
          <a:prstGeom prst="rect">
            <a:avLst/>
          </a:prstGeom>
          <a:noFill/>
        </p:spPr>
        <p:txBody>
          <a:bodyPr wrap="square" lIns="0" rIns="0" tIns="0" bIns="0" anchor="t">
            <a:spAutoFit/>
          </a:bodyPr>
          <a:lstStyle/>
          <a:p>
            <a:pPr algn="l">
              <a:lnSpc>
                <a:spcPct val="115000"/>
              </a:lnSpc>
            </a:pPr>
            <a:r>
              <a:rPr sz="1100" b="0">
                <a:solidFill>
                  <a:srgbClr val="1F2937"/>
                </a:solidFill>
                <a:latin typeface="Helvetica"/>
              </a:rPr>
              <a:t>Every call ends with one specific dated next action.</a:t>
            </a:r>
          </a:p>
        </p:txBody>
      </p:sp>
      <p:sp>
        <p:nvSpPr>
          <p:cNvPr id="16" name="Rounded Rectangle 15"/>
          <p:cNvSpPr/>
          <p:nvPr/>
        </p:nvSpPr>
        <p:spPr>
          <a:xfrm>
            <a:off x="5852160" y="4526279"/>
            <a:ext cx="5577840" cy="685800"/>
          </a:xfrm>
          <a:prstGeom prst="roundRect">
            <a:avLst>
              <a:gd name="adj" fmla="val 4000"/>
            </a:avLst>
          </a:prstGeom>
          <a:solidFill>
            <a:srgbClr val="F4F6F8"/>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4599431"/>
            <a:ext cx="5029200" cy="320040"/>
          </a:xfrm>
          <a:prstGeom prst="rect">
            <a:avLst/>
          </a:prstGeom>
          <a:noFill/>
        </p:spPr>
        <p:txBody>
          <a:bodyPr wrap="square" lIns="0" rIns="0" tIns="0" bIns="0" anchor="t">
            <a:spAutoFit/>
          </a:bodyPr>
          <a:lstStyle/>
          <a:p>
            <a:pPr algn="l">
              <a:lnSpc>
                <a:spcPct val="115000"/>
              </a:lnSpc>
            </a:pPr>
            <a:r>
              <a:rPr sz="1400" b="1">
                <a:solidFill>
                  <a:srgbClr val="0B1F3A"/>
                </a:solidFill>
                <a:latin typeface="Helvetica"/>
              </a:rPr>
              <a:t>Calm in the unknown</a:t>
            </a:r>
          </a:p>
        </p:txBody>
      </p:sp>
      <p:sp>
        <p:nvSpPr>
          <p:cNvPr id="18" name="TextBox 17"/>
          <p:cNvSpPr txBox="1"/>
          <p:nvPr/>
        </p:nvSpPr>
        <p:spPr>
          <a:xfrm>
            <a:off x="6126480" y="4892039"/>
            <a:ext cx="5029200" cy="320040"/>
          </a:xfrm>
          <a:prstGeom prst="rect">
            <a:avLst/>
          </a:prstGeom>
          <a:noFill/>
        </p:spPr>
        <p:txBody>
          <a:bodyPr wrap="square" lIns="0" rIns="0" tIns="0" bIns="0" anchor="t">
            <a:spAutoFit/>
          </a:bodyPr>
          <a:lstStyle/>
          <a:p>
            <a:pPr algn="l">
              <a:lnSpc>
                <a:spcPct val="115000"/>
              </a:lnSpc>
            </a:pPr>
            <a:r>
              <a:rPr sz="1100" b="0">
                <a:solidFill>
                  <a:srgbClr val="1F2937"/>
                </a:solidFill>
                <a:latin typeface="Helvetica"/>
              </a:rPr>
              <a:t>You do not have every answer and that is okay.</a:t>
            </a:r>
          </a:p>
        </p:txBody>
      </p:sp>
      <p:sp>
        <p:nvSpPr>
          <p:cNvPr id="19" name="Rounded Rectangle 18"/>
          <p:cNvSpPr/>
          <p:nvPr/>
        </p:nvSpPr>
        <p:spPr>
          <a:xfrm>
            <a:off x="731520" y="5440680"/>
            <a:ext cx="10698480" cy="777240"/>
          </a:xfrm>
          <a:prstGeom prst="roundRect">
            <a:avLst>
              <a:gd name="adj" fmla="val 4000"/>
            </a:avLst>
          </a:prstGeom>
          <a:solidFill>
            <a:srgbClr val="F26A1F"/>
          </a:solidFill>
          <a:ln w="9525">
            <a:solidFill>
              <a:srgbClr val="F26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486400"/>
            <a:ext cx="10424160" cy="320040"/>
          </a:xfrm>
          <a:prstGeom prst="rect">
            <a:avLst/>
          </a:prstGeom>
          <a:noFill/>
        </p:spPr>
        <p:txBody>
          <a:bodyPr wrap="square" lIns="0" rIns="0" tIns="0" bIns="0" anchor="t">
            <a:spAutoFit/>
          </a:bodyPr>
          <a:lstStyle/>
          <a:p>
            <a:pPr algn="l">
              <a:lnSpc>
                <a:spcPct val="115000"/>
              </a:lnSpc>
            </a:pPr>
            <a:r>
              <a:rPr sz="1100" b="1">
                <a:solidFill>
                  <a:srgbClr val="FFFFFF"/>
                </a:solidFill>
                <a:latin typeface="Helvetica"/>
              </a:rPr>
              <a:t>COMPLIANCE WARNING</a:t>
            </a:r>
          </a:p>
        </p:txBody>
      </p:sp>
      <p:sp>
        <p:nvSpPr>
          <p:cNvPr id="21" name="TextBox 20"/>
          <p:cNvSpPr txBox="1"/>
          <p:nvPr/>
        </p:nvSpPr>
        <p:spPr>
          <a:xfrm>
            <a:off x="914400" y="5760720"/>
            <a:ext cx="10424160" cy="457200"/>
          </a:xfrm>
          <a:prstGeom prst="rect">
            <a:avLst/>
          </a:prstGeom>
          <a:noFill/>
        </p:spPr>
        <p:txBody>
          <a:bodyPr wrap="square" lIns="0" rIns="0" tIns="0" bIns="0" anchor="t">
            <a:spAutoFit/>
          </a:bodyPr>
          <a:lstStyle/>
          <a:p>
            <a:pPr algn="l">
              <a:lnSpc>
                <a:spcPct val="115000"/>
              </a:lnSpc>
            </a:pPr>
            <a:r>
              <a:rPr sz="1300" b="1">
                <a:solidFill>
                  <a:srgbClr val="FFFFFF"/>
                </a:solidFill>
                <a:latin typeface="Helvetica"/>
              </a:rPr>
              <a:t>No production guarantees. No teaser rates. No specific terms in writing without proper disclosures.</a:t>
            </a:r>
          </a:p>
        </p:txBody>
      </p:sp>
      <p:sp>
        <p:nvSpPr>
          <p:cNvPr id="22" name="Rounded Rectangle 21"/>
          <p:cNvSpPr/>
          <p:nvPr/>
        </p:nvSpPr>
        <p:spPr>
          <a:xfrm>
            <a:off x="1828800" y="6309360"/>
            <a:ext cx="8503920" cy="502920"/>
          </a:xfrm>
          <a:prstGeom prst="roundRect">
            <a:avLst>
              <a:gd name="adj" fmla="val 18000"/>
            </a:avLst>
          </a:prstGeom>
          <a:solidFill>
            <a:srgbClr val="FFE3D2"/>
          </a:solidFill>
          <a:ln w="19050">
            <a:solidFill>
              <a:srgbClr val="F26A1F"/>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27000" bIns="127000"/>
          <a:lstStyle/>
          <a:p>
            <a:pPr algn="l"/>
            <a:r>
              <a:rPr sz="1200" b="1">
                <a:solidFill>
                  <a:srgbClr val="C9531A"/>
                </a:solidFill>
                <a:latin typeface="Helvetica"/>
              </a:rPr>
              <a:t>PAUSE FOR LIVE Q&amp;A</a:t>
            </a:r>
          </a:p>
          <a:p>
            <a:pPr algn="l">
              <a:spcBef>
                <a:spcPts val="400"/>
              </a:spcBef>
            </a:pPr>
            <a:r>
              <a:rPr sz="1400">
                <a:solidFill>
                  <a:srgbClr val="1F2937"/>
                </a:solidFill>
                <a:latin typeface="Helvetica"/>
              </a:rPr>
              <a:t>Q&amp;A 5. Where do new LOs confuse confidence with overpromising?</a:t>
            </a:r>
          </a:p>
        </p:txBody>
      </p:sp>
      <p:sp>
        <p:nvSpPr>
          <p:cNvPr id="23" name="TextBox 22"/>
          <p:cNvSpPr txBox="1"/>
          <p:nvPr/>
        </p:nvSpPr>
        <p:spPr>
          <a:xfrm>
            <a:off x="457200" y="6446520"/>
            <a:ext cx="11277295" cy="320040"/>
          </a:xfrm>
          <a:prstGeom prst="rect">
            <a:avLst/>
          </a:prstGeom>
          <a:noFill/>
        </p:spPr>
        <p:txBody>
          <a:bodyPr wrap="none" lIns="0" rIns="0" tIns="0" bIns="0">
            <a:spAutoFit/>
          </a:bodyPr>
          <a:lstStyle/>
          <a:p>
            <a:pPr algn="l"/>
            <a:r>
              <a:rPr sz="900">
                <a:solidFill>
                  <a:srgbClr val="475569"/>
                </a:solidFill>
                <a:latin typeface="Helvetica"/>
              </a:rPr>
              <a:t>Elite Sales and Marketing Training 101  |  Mortgage Sales Foundation  |  Internal training only</a:t>
            </a:r>
          </a:p>
        </p:txBody>
      </p:sp>
      <p:sp>
        <p:nvSpPr>
          <p:cNvPr id="24" name="TextBox 23"/>
          <p:cNvSpPr txBox="1"/>
          <p:nvPr/>
        </p:nvSpPr>
        <p:spPr>
          <a:xfrm>
            <a:off x="10789920" y="6446520"/>
            <a:ext cx="1371600" cy="320040"/>
          </a:xfrm>
          <a:prstGeom prst="rect">
            <a:avLst/>
          </a:prstGeom>
          <a:noFill/>
        </p:spPr>
        <p:txBody>
          <a:bodyPr wrap="none" lIns="0" rIns="0" tIns="0" bIns="0">
            <a:spAutoFit/>
          </a:bodyPr>
          <a:lstStyle/>
          <a:p>
            <a:pPr algn="r"/>
            <a: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02920"/>
            <a:ext cx="731520" cy="38100"/>
          </a:xfrm>
          <a:prstGeom prst="rect">
            <a:avLst/>
          </a:prstGeom>
          <a:solidFill>
            <a:srgbClr val="F26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9144000" cy="320040"/>
          </a:xfrm>
          <a:prstGeom prst="rect">
            <a:avLst/>
          </a:prstGeom>
          <a:noFill/>
        </p:spPr>
        <p:txBody>
          <a:bodyPr wrap="square" lIns="0" rIns="0" tIns="0" bIns="0" anchor="t">
            <a:spAutoFit/>
          </a:bodyPr>
          <a:lstStyle/>
          <a:p>
            <a:pPr algn="l">
              <a:lnSpc>
                <a:spcPct val="115000"/>
              </a:lnSpc>
            </a:pPr>
            <a:r>
              <a:rPr sz="1100" b="1">
                <a:solidFill>
                  <a:srgbClr val="F26A1F"/>
                </a:solidFill>
                <a:latin typeface="Helvetica"/>
              </a:rPr>
              <a:t>ACTIVITY TRACKING BASICS</a:t>
            </a:r>
          </a:p>
        </p:txBody>
      </p:sp>
      <p:sp>
        <p:nvSpPr>
          <p:cNvPr id="5" name="TextBox 4"/>
          <p:cNvSpPr txBox="1"/>
          <p:nvPr/>
        </p:nvSpPr>
        <p:spPr>
          <a:xfrm>
            <a:off x="731520" y="1005840"/>
            <a:ext cx="10698480" cy="1097280"/>
          </a:xfrm>
          <a:prstGeom prst="rect">
            <a:avLst/>
          </a:prstGeom>
          <a:noFill/>
        </p:spPr>
        <p:txBody>
          <a:bodyPr wrap="square" lIns="0" rIns="0" tIns="0" bIns="0" anchor="t">
            <a:spAutoFit/>
          </a:bodyPr>
          <a:lstStyle/>
          <a:p>
            <a:pPr algn="l">
              <a:lnSpc>
                <a:spcPct val="115000"/>
              </a:lnSpc>
            </a:pPr>
            <a:r>
              <a:rPr sz="3400" b="1">
                <a:solidFill>
                  <a:srgbClr val="0B1F3A"/>
                </a:solidFill>
                <a:latin typeface="Helvetica"/>
              </a:rPr>
              <a:t>If you do not track it, you are guessing.</a:t>
            </a:r>
          </a:p>
        </p:txBody>
      </p:sp>
      <p:sp>
        <p:nvSpPr>
          <p:cNvPr id="6" name="TextBox 5"/>
          <p:cNvSpPr txBox="1"/>
          <p:nvPr/>
        </p:nvSpPr>
        <p:spPr>
          <a:xfrm>
            <a:off x="731520" y="1920240"/>
            <a:ext cx="10698480" cy="502920"/>
          </a:xfrm>
          <a:prstGeom prst="rect">
            <a:avLst/>
          </a:prstGeom>
          <a:noFill/>
        </p:spPr>
        <p:txBody>
          <a:bodyPr wrap="square" lIns="0" rIns="0" tIns="0" bIns="0" anchor="t">
            <a:spAutoFit/>
          </a:bodyPr>
          <a:lstStyle/>
          <a:p>
            <a:pPr algn="l">
              <a:lnSpc>
                <a:spcPct val="115000"/>
              </a:lnSpc>
            </a:pPr>
            <a:r>
              <a:rPr sz="1400" b="0">
                <a:solidFill>
                  <a:srgbClr val="1F2937"/>
                </a:solidFill>
                <a:latin typeface="Helvetica"/>
              </a:rPr>
              <a:t>Your simple weekly scoreboard. Five inputs. Run these every week.</a:t>
            </a:r>
          </a:p>
        </p:txBody>
      </p:sp>
      <p:sp>
        <p:nvSpPr>
          <p:cNvPr id="7" name="Rounded Rectangle 6"/>
          <p:cNvSpPr/>
          <p:nvPr/>
        </p:nvSpPr>
        <p:spPr>
          <a:xfrm>
            <a:off x="394563" y="2743200"/>
            <a:ext cx="2148840" cy="2651760"/>
          </a:xfrm>
          <a:prstGeom prst="roundRect">
            <a:avLst>
              <a:gd name="adj" fmla="val 4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0323" y="3017520"/>
            <a:ext cx="502920" cy="502920"/>
          </a:xfrm>
          <a:prstGeom prst="ellipse">
            <a:avLst/>
          </a:prstGeom>
          <a:solidFill>
            <a:srgbClr val="F26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0323" y="3063240"/>
            <a:ext cx="502920" cy="411480"/>
          </a:xfrm>
          <a:prstGeom prst="rect">
            <a:avLst/>
          </a:prstGeom>
          <a:noFill/>
        </p:spPr>
        <p:txBody>
          <a:bodyPr wrap="square" lIns="0" rIns="0" tIns="0" bIns="0" anchor="t">
            <a:spAutoFit/>
          </a:bodyPr>
          <a:lstStyle/>
          <a:p>
            <a:pPr algn="ctr">
              <a:lnSpc>
                <a:spcPct val="115000"/>
              </a:lnSpc>
            </a:pPr>
            <a:r>
              <a:rPr sz="1800" b="1">
                <a:solidFill>
                  <a:srgbClr val="FFFFFF"/>
                </a:solidFill>
                <a:latin typeface="Helvetica"/>
              </a:rPr>
              <a:t>1</a:t>
            </a:r>
          </a:p>
        </p:txBody>
      </p:sp>
      <p:sp>
        <p:nvSpPr>
          <p:cNvPr id="10" name="TextBox 9"/>
          <p:cNvSpPr txBox="1"/>
          <p:nvPr/>
        </p:nvSpPr>
        <p:spPr>
          <a:xfrm>
            <a:off x="668883" y="3703320"/>
            <a:ext cx="1600200" cy="914400"/>
          </a:xfrm>
          <a:prstGeom prst="rect">
            <a:avLst/>
          </a:prstGeom>
          <a:noFill/>
        </p:spPr>
        <p:txBody>
          <a:bodyPr wrap="square" lIns="0" rIns="0" tIns="0" bIns="0" anchor="t">
            <a:spAutoFit/>
          </a:bodyPr>
          <a:lstStyle/>
          <a:p>
            <a:pPr algn="l">
              <a:lnSpc>
                <a:spcPct val="115000"/>
              </a:lnSpc>
            </a:pPr>
            <a:r>
              <a:rPr sz="1400" b="1">
                <a:solidFill>
                  <a:srgbClr val="0B1F3A"/>
                </a:solidFill>
                <a:latin typeface="Helvetica"/>
              </a:rPr>
              <a:t>Conversations Per Day</a:t>
            </a:r>
          </a:p>
        </p:txBody>
      </p:sp>
      <p:sp>
        <p:nvSpPr>
          <p:cNvPr id="11" name="TextBox 10"/>
          <p:cNvSpPr txBox="1"/>
          <p:nvPr/>
        </p:nvSpPr>
        <p:spPr>
          <a:xfrm>
            <a:off x="668883" y="4526280"/>
            <a:ext cx="1600200" cy="777240"/>
          </a:xfrm>
          <a:prstGeom prst="rect">
            <a:avLst/>
          </a:prstGeom>
          <a:noFill/>
        </p:spPr>
        <p:txBody>
          <a:bodyPr wrap="square" lIns="0" rIns="0" tIns="0" bIns="0" anchor="t">
            <a:spAutoFit/>
          </a:bodyPr>
          <a:lstStyle/>
          <a:p>
            <a:pPr algn="l">
              <a:lnSpc>
                <a:spcPct val="115000"/>
              </a:lnSpc>
            </a:pPr>
            <a:r>
              <a:rPr sz="1100" b="0">
                <a:solidFill>
                  <a:srgbClr val="1F2937"/>
                </a:solidFill>
                <a:latin typeface="Helvetica"/>
              </a:rPr>
              <a:t>The primary input. 5 to 8 real conversations a day.</a:t>
            </a:r>
          </a:p>
        </p:txBody>
      </p:sp>
      <p:sp>
        <p:nvSpPr>
          <p:cNvPr id="12" name="Rounded Rectangle 11"/>
          <p:cNvSpPr/>
          <p:nvPr/>
        </p:nvSpPr>
        <p:spPr>
          <a:xfrm>
            <a:off x="2707995" y="2743200"/>
            <a:ext cx="2148840" cy="2651760"/>
          </a:xfrm>
          <a:prstGeom prst="roundRect">
            <a:avLst>
              <a:gd name="adj" fmla="val 4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73755" y="3017520"/>
            <a:ext cx="502920" cy="502920"/>
          </a:xfrm>
          <a:prstGeom prst="ellipse">
            <a:avLst/>
          </a:prstGeom>
          <a:solidFill>
            <a:srgbClr val="F26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73755" y="3063240"/>
            <a:ext cx="502920" cy="411480"/>
          </a:xfrm>
          <a:prstGeom prst="rect">
            <a:avLst/>
          </a:prstGeom>
          <a:noFill/>
        </p:spPr>
        <p:txBody>
          <a:bodyPr wrap="square" lIns="0" rIns="0" tIns="0" bIns="0" anchor="t">
            <a:spAutoFit/>
          </a:bodyPr>
          <a:lstStyle/>
          <a:p>
            <a:pPr algn="ctr">
              <a:lnSpc>
                <a:spcPct val="115000"/>
              </a:lnSpc>
            </a:pPr>
            <a:r>
              <a:rPr sz="1800" b="1">
                <a:solidFill>
                  <a:srgbClr val="FFFFFF"/>
                </a:solidFill>
                <a:latin typeface="Helvetica"/>
              </a:rPr>
              <a:t>2</a:t>
            </a:r>
          </a:p>
        </p:txBody>
      </p:sp>
      <p:sp>
        <p:nvSpPr>
          <p:cNvPr id="15" name="TextBox 14"/>
          <p:cNvSpPr txBox="1"/>
          <p:nvPr/>
        </p:nvSpPr>
        <p:spPr>
          <a:xfrm>
            <a:off x="2982315" y="3703320"/>
            <a:ext cx="1600200" cy="914400"/>
          </a:xfrm>
          <a:prstGeom prst="rect">
            <a:avLst/>
          </a:prstGeom>
          <a:noFill/>
        </p:spPr>
        <p:txBody>
          <a:bodyPr wrap="square" lIns="0" rIns="0" tIns="0" bIns="0" anchor="t">
            <a:spAutoFit/>
          </a:bodyPr>
          <a:lstStyle/>
          <a:p>
            <a:pPr algn="l">
              <a:lnSpc>
                <a:spcPct val="115000"/>
              </a:lnSpc>
            </a:pPr>
            <a:r>
              <a:rPr sz="1400" b="1">
                <a:solidFill>
                  <a:srgbClr val="0B1F3A"/>
                </a:solidFill>
                <a:latin typeface="Helvetica"/>
              </a:rPr>
              <a:t>Past Client Touches</a:t>
            </a:r>
          </a:p>
        </p:txBody>
      </p:sp>
      <p:sp>
        <p:nvSpPr>
          <p:cNvPr id="16" name="TextBox 15"/>
          <p:cNvSpPr txBox="1"/>
          <p:nvPr/>
        </p:nvSpPr>
        <p:spPr>
          <a:xfrm>
            <a:off x="2982315" y="4526280"/>
            <a:ext cx="1600200" cy="777240"/>
          </a:xfrm>
          <a:prstGeom prst="rect">
            <a:avLst/>
          </a:prstGeom>
          <a:noFill/>
        </p:spPr>
        <p:txBody>
          <a:bodyPr wrap="square" lIns="0" rIns="0" tIns="0" bIns="0" anchor="t">
            <a:spAutoFit/>
          </a:bodyPr>
          <a:lstStyle/>
          <a:p>
            <a:pPr algn="l">
              <a:lnSpc>
                <a:spcPct val="115000"/>
              </a:lnSpc>
            </a:pPr>
            <a:r>
              <a:rPr sz="1100" b="0">
                <a:solidFill>
                  <a:srgbClr val="1F2937"/>
                </a:solidFill>
                <a:latin typeface="Helvetica"/>
              </a:rPr>
              <a:t>Weekly outreach to the existing database.</a:t>
            </a:r>
          </a:p>
        </p:txBody>
      </p:sp>
      <p:sp>
        <p:nvSpPr>
          <p:cNvPr id="17" name="Rounded Rectangle 16"/>
          <p:cNvSpPr/>
          <p:nvPr/>
        </p:nvSpPr>
        <p:spPr>
          <a:xfrm>
            <a:off x="5021427" y="2743200"/>
            <a:ext cx="2148840" cy="2651760"/>
          </a:xfrm>
          <a:prstGeom prst="roundRect">
            <a:avLst>
              <a:gd name="adj" fmla="val 4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387187" y="3017520"/>
            <a:ext cx="502920" cy="502920"/>
          </a:xfrm>
          <a:prstGeom prst="ellipse">
            <a:avLst/>
          </a:prstGeom>
          <a:solidFill>
            <a:srgbClr val="F26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87187" y="3063240"/>
            <a:ext cx="502920" cy="411480"/>
          </a:xfrm>
          <a:prstGeom prst="rect">
            <a:avLst/>
          </a:prstGeom>
          <a:noFill/>
        </p:spPr>
        <p:txBody>
          <a:bodyPr wrap="square" lIns="0" rIns="0" tIns="0" bIns="0" anchor="t">
            <a:spAutoFit/>
          </a:bodyPr>
          <a:lstStyle/>
          <a:p>
            <a:pPr algn="ctr">
              <a:lnSpc>
                <a:spcPct val="115000"/>
              </a:lnSpc>
            </a:pPr>
            <a:r>
              <a:rPr sz="1800" b="1">
                <a:solidFill>
                  <a:srgbClr val="FFFFFF"/>
                </a:solidFill>
                <a:latin typeface="Helvetica"/>
              </a:rPr>
              <a:t>3</a:t>
            </a:r>
          </a:p>
        </p:txBody>
      </p:sp>
      <p:sp>
        <p:nvSpPr>
          <p:cNvPr id="20" name="TextBox 19"/>
          <p:cNvSpPr txBox="1"/>
          <p:nvPr/>
        </p:nvSpPr>
        <p:spPr>
          <a:xfrm>
            <a:off x="5295747" y="3703320"/>
            <a:ext cx="1600200" cy="914400"/>
          </a:xfrm>
          <a:prstGeom prst="rect">
            <a:avLst/>
          </a:prstGeom>
          <a:noFill/>
        </p:spPr>
        <p:txBody>
          <a:bodyPr wrap="square" lIns="0" rIns="0" tIns="0" bIns="0" anchor="t">
            <a:spAutoFit/>
          </a:bodyPr>
          <a:lstStyle/>
          <a:p>
            <a:pPr algn="l">
              <a:lnSpc>
                <a:spcPct val="115000"/>
              </a:lnSpc>
            </a:pPr>
            <a:r>
              <a:rPr sz="1400" b="1">
                <a:solidFill>
                  <a:srgbClr val="0B1F3A"/>
                </a:solidFill>
                <a:latin typeface="Helvetica"/>
              </a:rPr>
              <a:t>Partner Touches</a:t>
            </a:r>
          </a:p>
        </p:txBody>
      </p:sp>
      <p:sp>
        <p:nvSpPr>
          <p:cNvPr id="21" name="TextBox 20"/>
          <p:cNvSpPr txBox="1"/>
          <p:nvPr/>
        </p:nvSpPr>
        <p:spPr>
          <a:xfrm>
            <a:off x="5295747" y="4526280"/>
            <a:ext cx="1600200" cy="777240"/>
          </a:xfrm>
          <a:prstGeom prst="rect">
            <a:avLst/>
          </a:prstGeom>
          <a:noFill/>
        </p:spPr>
        <p:txBody>
          <a:bodyPr wrap="square" lIns="0" rIns="0" tIns="0" bIns="0" anchor="t">
            <a:spAutoFit/>
          </a:bodyPr>
          <a:lstStyle/>
          <a:p>
            <a:pPr algn="l">
              <a:lnSpc>
                <a:spcPct val="115000"/>
              </a:lnSpc>
            </a:pPr>
            <a:r>
              <a:rPr sz="1100" b="0">
                <a:solidFill>
                  <a:srgbClr val="1F2937"/>
                </a:solidFill>
                <a:latin typeface="Helvetica"/>
              </a:rPr>
              <a:t>Weekly contact with Realtors and partners.</a:t>
            </a:r>
          </a:p>
        </p:txBody>
      </p:sp>
      <p:sp>
        <p:nvSpPr>
          <p:cNvPr id="22" name="Rounded Rectangle 21"/>
          <p:cNvSpPr/>
          <p:nvPr/>
        </p:nvSpPr>
        <p:spPr>
          <a:xfrm>
            <a:off x="7334859" y="2743200"/>
            <a:ext cx="2148840" cy="2651760"/>
          </a:xfrm>
          <a:prstGeom prst="roundRect">
            <a:avLst>
              <a:gd name="adj" fmla="val 4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700619" y="3017520"/>
            <a:ext cx="502920" cy="502920"/>
          </a:xfrm>
          <a:prstGeom prst="ellipse">
            <a:avLst/>
          </a:prstGeom>
          <a:solidFill>
            <a:srgbClr val="F26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00619" y="3063240"/>
            <a:ext cx="502920" cy="411480"/>
          </a:xfrm>
          <a:prstGeom prst="rect">
            <a:avLst/>
          </a:prstGeom>
          <a:noFill/>
        </p:spPr>
        <p:txBody>
          <a:bodyPr wrap="square" lIns="0" rIns="0" tIns="0" bIns="0" anchor="t">
            <a:spAutoFit/>
          </a:bodyPr>
          <a:lstStyle/>
          <a:p>
            <a:pPr algn="ctr">
              <a:lnSpc>
                <a:spcPct val="115000"/>
              </a:lnSpc>
            </a:pPr>
            <a:r>
              <a:rPr sz="1800" b="1">
                <a:solidFill>
                  <a:srgbClr val="FFFFFF"/>
                </a:solidFill>
                <a:latin typeface="Helvetica"/>
              </a:rPr>
              <a:t>4</a:t>
            </a:r>
          </a:p>
        </p:txBody>
      </p:sp>
      <p:sp>
        <p:nvSpPr>
          <p:cNvPr id="25" name="TextBox 24"/>
          <p:cNvSpPr txBox="1"/>
          <p:nvPr/>
        </p:nvSpPr>
        <p:spPr>
          <a:xfrm>
            <a:off x="7609179" y="3703320"/>
            <a:ext cx="1600200" cy="914400"/>
          </a:xfrm>
          <a:prstGeom prst="rect">
            <a:avLst/>
          </a:prstGeom>
          <a:noFill/>
        </p:spPr>
        <p:txBody>
          <a:bodyPr wrap="square" lIns="0" rIns="0" tIns="0" bIns="0" anchor="t">
            <a:spAutoFit/>
          </a:bodyPr>
          <a:lstStyle/>
          <a:p>
            <a:pPr algn="l">
              <a:lnSpc>
                <a:spcPct val="115000"/>
              </a:lnSpc>
            </a:pPr>
            <a:r>
              <a:rPr sz="1400" b="1">
                <a:solidFill>
                  <a:srgbClr val="0B1F3A"/>
                </a:solidFill>
                <a:latin typeface="Helvetica"/>
              </a:rPr>
              <a:t>Follow Ups</a:t>
            </a:r>
          </a:p>
        </p:txBody>
      </p:sp>
      <p:sp>
        <p:nvSpPr>
          <p:cNvPr id="26" name="TextBox 25"/>
          <p:cNvSpPr txBox="1"/>
          <p:nvPr/>
        </p:nvSpPr>
        <p:spPr>
          <a:xfrm>
            <a:off x="7609179" y="4526280"/>
            <a:ext cx="1600200" cy="777240"/>
          </a:xfrm>
          <a:prstGeom prst="rect">
            <a:avLst/>
          </a:prstGeom>
          <a:noFill/>
        </p:spPr>
        <p:txBody>
          <a:bodyPr wrap="square" lIns="0" rIns="0" tIns="0" bIns="0" anchor="t">
            <a:spAutoFit/>
          </a:bodyPr>
          <a:lstStyle/>
          <a:p>
            <a:pPr algn="l">
              <a:lnSpc>
                <a:spcPct val="115000"/>
              </a:lnSpc>
            </a:pPr>
            <a:r>
              <a:rPr sz="1100" b="0">
                <a:solidFill>
                  <a:srgbClr val="1F2937"/>
                </a:solidFill>
                <a:latin typeface="Helvetica"/>
              </a:rPr>
              <a:t>Sent and answered. Both sides count.</a:t>
            </a:r>
          </a:p>
        </p:txBody>
      </p:sp>
      <p:sp>
        <p:nvSpPr>
          <p:cNvPr id="27" name="Rounded Rectangle 26"/>
          <p:cNvSpPr/>
          <p:nvPr/>
        </p:nvSpPr>
        <p:spPr>
          <a:xfrm>
            <a:off x="9648291" y="2743200"/>
            <a:ext cx="2148840" cy="2651760"/>
          </a:xfrm>
          <a:prstGeom prst="roundRect">
            <a:avLst>
              <a:gd name="adj" fmla="val 4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014051" y="3017520"/>
            <a:ext cx="502920" cy="502920"/>
          </a:xfrm>
          <a:prstGeom prst="ellipse">
            <a:avLst/>
          </a:prstGeom>
          <a:solidFill>
            <a:srgbClr val="F26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14051" y="3063240"/>
            <a:ext cx="502920" cy="411480"/>
          </a:xfrm>
          <a:prstGeom prst="rect">
            <a:avLst/>
          </a:prstGeom>
          <a:noFill/>
        </p:spPr>
        <p:txBody>
          <a:bodyPr wrap="square" lIns="0" rIns="0" tIns="0" bIns="0" anchor="t">
            <a:spAutoFit/>
          </a:bodyPr>
          <a:lstStyle/>
          <a:p>
            <a:pPr algn="ctr">
              <a:lnSpc>
                <a:spcPct val="115000"/>
              </a:lnSpc>
            </a:pPr>
            <a:r>
              <a:rPr sz="1800" b="1">
                <a:solidFill>
                  <a:srgbClr val="FFFFFF"/>
                </a:solidFill>
                <a:latin typeface="Helvetica"/>
              </a:rPr>
              <a:t>5</a:t>
            </a:r>
          </a:p>
        </p:txBody>
      </p:sp>
      <p:sp>
        <p:nvSpPr>
          <p:cNvPr id="30" name="TextBox 29"/>
          <p:cNvSpPr txBox="1"/>
          <p:nvPr/>
        </p:nvSpPr>
        <p:spPr>
          <a:xfrm>
            <a:off x="9922611" y="3703320"/>
            <a:ext cx="1600200" cy="914400"/>
          </a:xfrm>
          <a:prstGeom prst="rect">
            <a:avLst/>
          </a:prstGeom>
          <a:noFill/>
        </p:spPr>
        <p:txBody>
          <a:bodyPr wrap="square" lIns="0" rIns="0" tIns="0" bIns="0" anchor="t">
            <a:spAutoFit/>
          </a:bodyPr>
          <a:lstStyle/>
          <a:p>
            <a:pPr algn="l">
              <a:lnSpc>
                <a:spcPct val="115000"/>
              </a:lnSpc>
            </a:pPr>
            <a:r>
              <a:rPr sz="1400" b="1">
                <a:solidFill>
                  <a:srgbClr val="0B1F3A"/>
                </a:solidFill>
                <a:latin typeface="Helvetica"/>
              </a:rPr>
              <a:t>Next Step on Every File</a:t>
            </a:r>
          </a:p>
        </p:txBody>
      </p:sp>
      <p:sp>
        <p:nvSpPr>
          <p:cNvPr id="31" name="TextBox 30"/>
          <p:cNvSpPr txBox="1"/>
          <p:nvPr/>
        </p:nvSpPr>
        <p:spPr>
          <a:xfrm>
            <a:off x="9922611" y="4526280"/>
            <a:ext cx="1600200" cy="777240"/>
          </a:xfrm>
          <a:prstGeom prst="rect">
            <a:avLst/>
          </a:prstGeom>
          <a:noFill/>
        </p:spPr>
        <p:txBody>
          <a:bodyPr wrap="square" lIns="0" rIns="0" tIns="0" bIns="0" anchor="t">
            <a:spAutoFit/>
          </a:bodyPr>
          <a:lstStyle/>
          <a:p>
            <a:pPr algn="l">
              <a:lnSpc>
                <a:spcPct val="115000"/>
              </a:lnSpc>
            </a:pPr>
            <a:r>
              <a:rPr sz="1100" b="0">
                <a:solidFill>
                  <a:srgbClr val="1F2937"/>
                </a:solidFill>
                <a:latin typeface="Helvetica"/>
              </a:rPr>
              <a:t>Every active file has one clear next action.</a:t>
            </a:r>
          </a:p>
        </p:txBody>
      </p:sp>
      <p:sp>
        <p:nvSpPr>
          <p:cNvPr id="32" name="Rounded Rectangle 31"/>
          <p:cNvSpPr/>
          <p:nvPr/>
        </p:nvSpPr>
        <p:spPr>
          <a:xfrm>
            <a:off x="1828800" y="5623560"/>
            <a:ext cx="8503920" cy="777240"/>
          </a:xfrm>
          <a:prstGeom prst="roundRect">
            <a:avLst>
              <a:gd name="adj" fmla="val 18000"/>
            </a:avLst>
          </a:prstGeom>
          <a:solidFill>
            <a:srgbClr val="FFE3D2"/>
          </a:solidFill>
          <a:ln w="19050">
            <a:solidFill>
              <a:srgbClr val="F26A1F"/>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27000" bIns="127000"/>
          <a:lstStyle/>
          <a:p>
            <a:pPr algn="l"/>
            <a:r>
              <a:rPr sz="1200" b="1">
                <a:solidFill>
                  <a:srgbClr val="C9531A"/>
                </a:solidFill>
                <a:latin typeface="Helvetica"/>
              </a:rPr>
              <a:t>PAUSE FOR LIVE Q&amp;A</a:t>
            </a:r>
          </a:p>
          <a:p>
            <a:pPr algn="l">
              <a:spcBef>
                <a:spcPts val="400"/>
              </a:spcBef>
            </a:pPr>
            <a:r>
              <a:rPr sz="1400">
                <a:solidFill>
                  <a:srgbClr val="1F2937"/>
                </a:solidFill>
                <a:latin typeface="Helvetica"/>
              </a:rPr>
              <a:t>Q&amp;A 6. What are the three activities you should track every week?</a:t>
            </a:r>
          </a:p>
        </p:txBody>
      </p:sp>
      <p:sp>
        <p:nvSpPr>
          <p:cNvPr id="33" name="TextBox 32"/>
          <p:cNvSpPr txBox="1"/>
          <p:nvPr/>
        </p:nvSpPr>
        <p:spPr>
          <a:xfrm>
            <a:off x="457200" y="6446520"/>
            <a:ext cx="11277295" cy="320040"/>
          </a:xfrm>
          <a:prstGeom prst="rect">
            <a:avLst/>
          </a:prstGeom>
          <a:noFill/>
        </p:spPr>
        <p:txBody>
          <a:bodyPr wrap="none" lIns="0" rIns="0" tIns="0" bIns="0">
            <a:spAutoFit/>
          </a:bodyPr>
          <a:lstStyle/>
          <a:p>
            <a:pPr algn="l"/>
            <a:r>
              <a:rPr sz="900">
                <a:solidFill>
                  <a:srgbClr val="475569"/>
                </a:solidFill>
                <a:latin typeface="Helvetica"/>
              </a:rPr>
              <a:t>Elite Sales and Marketing Training 101  |  Mortgage Sales Foundation  |  Internal training only</a:t>
            </a:r>
          </a:p>
        </p:txBody>
      </p:sp>
      <p:sp>
        <p:nvSpPr>
          <p:cNvPr id="34" name="TextBox 33"/>
          <p:cNvSpPr txBox="1"/>
          <p:nvPr/>
        </p:nvSpPr>
        <p:spPr>
          <a:xfrm>
            <a:off x="10789920" y="6446520"/>
            <a:ext cx="1371600" cy="320040"/>
          </a:xfrm>
          <a:prstGeom prst="rect">
            <a:avLst/>
          </a:prstGeom>
          <a:noFill/>
        </p:spPr>
        <p:txBody>
          <a:bodyPr wrap="none" lIns="0" rIns="0" tIns="0" bIns="0">
            <a:spAutoFit/>
          </a:bodyPr>
          <a:lstStyle/>
          <a:p>
            <a:pPr algn="r"/>
            <a: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rk-hero-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8172A">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502920"/>
            <a:ext cx="731520" cy="38100"/>
          </a:xfrm>
          <a:prstGeom prst="rect">
            <a:avLst/>
          </a:prstGeom>
          <a:solidFill>
            <a:srgbClr val="F26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
            <a:ext cx="9144000" cy="320040"/>
          </a:xfrm>
          <a:prstGeom prst="rect">
            <a:avLst/>
          </a:prstGeom>
          <a:noFill/>
        </p:spPr>
        <p:txBody>
          <a:bodyPr wrap="square" lIns="0" rIns="0" tIns="0" bIns="0" anchor="t">
            <a:spAutoFit/>
          </a:bodyPr>
          <a:lstStyle/>
          <a:p>
            <a:pPr algn="l">
              <a:lnSpc>
                <a:spcPct val="115000"/>
              </a:lnSpc>
            </a:pPr>
            <a:r>
              <a:rPr sz="1100" b="1">
                <a:solidFill>
                  <a:srgbClr val="F26A1F"/>
                </a:solidFill>
                <a:latin typeface="Helvetica"/>
              </a:rPr>
              <a:t>TODAY'S ASSIGNMENT</a:t>
            </a:r>
          </a:p>
        </p:txBody>
      </p:sp>
      <p:sp>
        <p:nvSpPr>
          <p:cNvPr id="6" name="TextBox 5"/>
          <p:cNvSpPr txBox="1"/>
          <p:nvPr/>
        </p:nvSpPr>
        <p:spPr>
          <a:xfrm>
            <a:off x="731520" y="1005840"/>
            <a:ext cx="10698480" cy="1097280"/>
          </a:xfrm>
          <a:prstGeom prst="rect">
            <a:avLst/>
          </a:prstGeom>
          <a:noFill/>
        </p:spPr>
        <p:txBody>
          <a:bodyPr wrap="square" lIns="0" rIns="0" tIns="0" bIns="0" anchor="t">
            <a:spAutoFit/>
          </a:bodyPr>
          <a:lstStyle/>
          <a:p>
            <a:pPr algn="l">
              <a:lnSpc>
                <a:spcPct val="115000"/>
              </a:lnSpc>
            </a:pPr>
            <a:r>
              <a:rPr sz="3400" b="1">
                <a:solidFill>
                  <a:srgbClr val="FFFFFF"/>
                </a:solidFill>
                <a:latin typeface="Helvetica"/>
              </a:rPr>
              <a:t>Three conversations. Three logs. One lesson.</a:t>
            </a:r>
          </a:p>
        </p:txBody>
      </p:sp>
      <p:sp>
        <p:nvSpPr>
          <p:cNvPr id="7" name="TextBox 6"/>
          <p:cNvSpPr txBox="1"/>
          <p:nvPr/>
        </p:nvSpPr>
        <p:spPr>
          <a:xfrm>
            <a:off x="731520" y="2468880"/>
            <a:ext cx="3200400" cy="2560320"/>
          </a:xfrm>
          <a:prstGeom prst="rect">
            <a:avLst/>
          </a:prstGeom>
          <a:noFill/>
        </p:spPr>
        <p:txBody>
          <a:bodyPr wrap="square" lIns="0" rIns="0" tIns="0" bIns="0" anchor="t">
            <a:spAutoFit/>
          </a:bodyPr>
          <a:lstStyle/>
          <a:p>
            <a:pPr algn="l">
              <a:lnSpc>
                <a:spcPct val="85000"/>
              </a:lnSpc>
            </a:pPr>
            <a:r>
              <a:rPr sz="18000" b="1">
                <a:solidFill>
                  <a:srgbClr val="F26A1F"/>
                </a:solidFill>
                <a:latin typeface="Helvetica"/>
              </a:rPr>
              <a:t>3</a:t>
            </a:r>
          </a:p>
        </p:txBody>
      </p:sp>
      <p:sp>
        <p:nvSpPr>
          <p:cNvPr id="8" name="TextBox 7"/>
          <p:cNvSpPr txBox="1"/>
          <p:nvPr/>
        </p:nvSpPr>
        <p:spPr>
          <a:xfrm>
            <a:off x="731520" y="4937760"/>
            <a:ext cx="3200400" cy="365760"/>
          </a:xfrm>
          <a:prstGeom prst="rect">
            <a:avLst/>
          </a:prstGeom>
          <a:noFill/>
        </p:spPr>
        <p:txBody>
          <a:bodyPr wrap="square" lIns="0" rIns="0" tIns="0" bIns="0" anchor="t">
            <a:spAutoFit/>
          </a:bodyPr>
          <a:lstStyle/>
          <a:p>
            <a:pPr algn="l">
              <a:lnSpc>
                <a:spcPct val="115000"/>
              </a:lnSpc>
            </a:pPr>
            <a:r>
              <a:rPr sz="1200" b="1">
                <a:solidFill>
                  <a:srgbClr val="F26A1F"/>
                </a:solidFill>
                <a:latin typeface="Helvetica"/>
              </a:rPr>
              <a:t>BEFORE THE NEXT SESSION</a:t>
            </a:r>
          </a:p>
        </p:txBody>
      </p:sp>
      <p:sp>
        <p:nvSpPr>
          <p:cNvPr id="9" name="TextBox 8"/>
          <p:cNvSpPr txBox="1"/>
          <p:nvPr/>
        </p:nvSpPr>
        <p:spPr>
          <a:xfrm>
            <a:off x="4297680" y="2331720"/>
            <a:ext cx="457200" cy="502920"/>
          </a:xfrm>
          <a:prstGeom prst="rect">
            <a:avLst/>
          </a:prstGeom>
          <a:noFill/>
        </p:spPr>
        <p:txBody>
          <a:bodyPr wrap="square" lIns="0" rIns="0" tIns="0" bIns="0" anchor="t">
            <a:spAutoFit/>
          </a:bodyPr>
          <a:lstStyle/>
          <a:p>
            <a:pPr algn="l">
              <a:lnSpc>
                <a:spcPct val="115000"/>
              </a:lnSpc>
            </a:pPr>
            <a:r>
              <a:rPr sz="1600" b="1">
                <a:solidFill>
                  <a:srgbClr val="F26A1F"/>
                </a:solidFill>
                <a:latin typeface="Helvetica"/>
              </a:rPr>
              <a:t>01</a:t>
            </a:r>
          </a:p>
        </p:txBody>
      </p:sp>
      <p:sp>
        <p:nvSpPr>
          <p:cNvPr id="10" name="TextBox 9"/>
          <p:cNvSpPr txBox="1"/>
          <p:nvPr/>
        </p:nvSpPr>
        <p:spPr>
          <a:xfrm>
            <a:off x="4800600" y="2331720"/>
            <a:ext cx="6675120" cy="292608"/>
          </a:xfrm>
          <a:prstGeom prst="rect">
            <a:avLst/>
          </a:prstGeom>
          <a:noFill/>
        </p:spPr>
        <p:txBody>
          <a:bodyPr wrap="square" lIns="0" rIns="0" tIns="0" bIns="0" anchor="t">
            <a:spAutoFit/>
          </a:bodyPr>
          <a:lstStyle/>
          <a:p>
            <a:pPr algn="l">
              <a:lnSpc>
                <a:spcPct val="115000"/>
              </a:lnSpc>
            </a:pPr>
            <a:r>
              <a:rPr sz="1400" b="1">
                <a:solidFill>
                  <a:srgbClr val="FFFFFF"/>
                </a:solidFill>
                <a:latin typeface="Helvetica"/>
              </a:rPr>
              <a:t>Run three conversations</a:t>
            </a:r>
          </a:p>
        </p:txBody>
      </p:sp>
      <p:sp>
        <p:nvSpPr>
          <p:cNvPr id="11" name="TextBox 10"/>
          <p:cNvSpPr txBox="1"/>
          <p:nvPr/>
        </p:nvSpPr>
        <p:spPr>
          <a:xfrm>
            <a:off x="4800600" y="2606040"/>
            <a:ext cx="6675120" cy="292608"/>
          </a:xfrm>
          <a:prstGeom prst="rect">
            <a:avLst/>
          </a:prstGeom>
          <a:noFill/>
        </p:spPr>
        <p:txBody>
          <a:bodyPr wrap="square" lIns="0" rIns="0" tIns="0" bIns="0" anchor="t">
            <a:spAutoFit/>
          </a:bodyPr>
          <a:lstStyle/>
          <a:p>
            <a:pPr algn="l">
              <a:lnSpc>
                <a:spcPct val="115000"/>
              </a:lnSpc>
            </a:pPr>
            <a:r>
              <a:rPr sz="1100" b="0">
                <a:solidFill>
                  <a:srgbClr val="CBD5E1"/>
                </a:solidFill>
                <a:latin typeface="Helvetica"/>
              </a:rPr>
              <a:t>Use the provided script with borrowers or referral partners.</a:t>
            </a:r>
          </a:p>
        </p:txBody>
      </p:sp>
      <p:sp>
        <p:nvSpPr>
          <p:cNvPr id="12" name="TextBox 11"/>
          <p:cNvSpPr txBox="1"/>
          <p:nvPr/>
        </p:nvSpPr>
        <p:spPr>
          <a:xfrm>
            <a:off x="4297680" y="2898648"/>
            <a:ext cx="457200" cy="502920"/>
          </a:xfrm>
          <a:prstGeom prst="rect">
            <a:avLst/>
          </a:prstGeom>
          <a:noFill/>
        </p:spPr>
        <p:txBody>
          <a:bodyPr wrap="square" lIns="0" rIns="0" tIns="0" bIns="0" anchor="t">
            <a:spAutoFit/>
          </a:bodyPr>
          <a:lstStyle/>
          <a:p>
            <a:pPr algn="l">
              <a:lnSpc>
                <a:spcPct val="115000"/>
              </a:lnSpc>
            </a:pPr>
            <a:r>
              <a:rPr sz="1600" b="1">
                <a:solidFill>
                  <a:srgbClr val="F26A1F"/>
                </a:solidFill>
                <a:latin typeface="Helvetica"/>
              </a:rPr>
              <a:t>02</a:t>
            </a:r>
          </a:p>
        </p:txBody>
      </p:sp>
      <p:sp>
        <p:nvSpPr>
          <p:cNvPr id="13" name="TextBox 12"/>
          <p:cNvSpPr txBox="1"/>
          <p:nvPr/>
        </p:nvSpPr>
        <p:spPr>
          <a:xfrm>
            <a:off x="4800600" y="2898648"/>
            <a:ext cx="6675120" cy="292608"/>
          </a:xfrm>
          <a:prstGeom prst="rect">
            <a:avLst/>
          </a:prstGeom>
          <a:noFill/>
        </p:spPr>
        <p:txBody>
          <a:bodyPr wrap="square" lIns="0" rIns="0" tIns="0" bIns="0" anchor="t">
            <a:spAutoFit/>
          </a:bodyPr>
          <a:lstStyle/>
          <a:p>
            <a:pPr algn="l">
              <a:lnSpc>
                <a:spcPct val="115000"/>
              </a:lnSpc>
            </a:pPr>
            <a:r>
              <a:rPr sz="1400" b="1">
                <a:solidFill>
                  <a:srgbClr val="FFFFFF"/>
                </a:solidFill>
                <a:latin typeface="Helvetica"/>
              </a:rPr>
              <a:t>Log who you talked to</a:t>
            </a:r>
          </a:p>
        </p:txBody>
      </p:sp>
      <p:sp>
        <p:nvSpPr>
          <p:cNvPr id="14" name="TextBox 13"/>
          <p:cNvSpPr txBox="1"/>
          <p:nvPr/>
        </p:nvSpPr>
        <p:spPr>
          <a:xfrm>
            <a:off x="4800600" y="3172968"/>
            <a:ext cx="6675120" cy="292608"/>
          </a:xfrm>
          <a:prstGeom prst="rect">
            <a:avLst/>
          </a:prstGeom>
          <a:noFill/>
        </p:spPr>
        <p:txBody>
          <a:bodyPr wrap="square" lIns="0" rIns="0" tIns="0" bIns="0" anchor="t">
            <a:spAutoFit/>
          </a:bodyPr>
          <a:lstStyle/>
          <a:p>
            <a:pPr algn="l">
              <a:lnSpc>
                <a:spcPct val="115000"/>
              </a:lnSpc>
            </a:pPr>
            <a:r>
              <a:rPr sz="1100" b="0">
                <a:solidFill>
                  <a:srgbClr val="CBD5E1"/>
                </a:solidFill>
                <a:latin typeface="Helvetica"/>
              </a:rPr>
              <a:t>Name, role, and context for each conversation.</a:t>
            </a:r>
          </a:p>
        </p:txBody>
      </p:sp>
      <p:sp>
        <p:nvSpPr>
          <p:cNvPr id="15" name="TextBox 14"/>
          <p:cNvSpPr txBox="1"/>
          <p:nvPr/>
        </p:nvSpPr>
        <p:spPr>
          <a:xfrm>
            <a:off x="4297680" y="3465576"/>
            <a:ext cx="457200" cy="502920"/>
          </a:xfrm>
          <a:prstGeom prst="rect">
            <a:avLst/>
          </a:prstGeom>
          <a:noFill/>
        </p:spPr>
        <p:txBody>
          <a:bodyPr wrap="square" lIns="0" rIns="0" tIns="0" bIns="0" anchor="t">
            <a:spAutoFit/>
          </a:bodyPr>
          <a:lstStyle/>
          <a:p>
            <a:pPr algn="l">
              <a:lnSpc>
                <a:spcPct val="115000"/>
              </a:lnSpc>
            </a:pPr>
            <a:r>
              <a:rPr sz="1600" b="1">
                <a:solidFill>
                  <a:srgbClr val="F26A1F"/>
                </a:solidFill>
                <a:latin typeface="Helvetica"/>
              </a:rPr>
              <a:t>03</a:t>
            </a:r>
          </a:p>
        </p:txBody>
      </p:sp>
      <p:sp>
        <p:nvSpPr>
          <p:cNvPr id="16" name="TextBox 15"/>
          <p:cNvSpPr txBox="1"/>
          <p:nvPr/>
        </p:nvSpPr>
        <p:spPr>
          <a:xfrm>
            <a:off x="4800600" y="3465576"/>
            <a:ext cx="6675120" cy="292608"/>
          </a:xfrm>
          <a:prstGeom prst="rect">
            <a:avLst/>
          </a:prstGeom>
          <a:noFill/>
        </p:spPr>
        <p:txBody>
          <a:bodyPr wrap="square" lIns="0" rIns="0" tIns="0" bIns="0" anchor="t">
            <a:spAutoFit/>
          </a:bodyPr>
          <a:lstStyle/>
          <a:p>
            <a:pPr algn="l">
              <a:lnSpc>
                <a:spcPct val="115000"/>
              </a:lnSpc>
            </a:pPr>
            <a:r>
              <a:rPr sz="1400" b="1">
                <a:solidFill>
                  <a:srgbClr val="FFFFFF"/>
                </a:solidFill>
                <a:latin typeface="Helvetica"/>
              </a:rPr>
              <a:t>Log what happened</a:t>
            </a:r>
          </a:p>
        </p:txBody>
      </p:sp>
      <p:sp>
        <p:nvSpPr>
          <p:cNvPr id="17" name="TextBox 16"/>
          <p:cNvSpPr txBox="1"/>
          <p:nvPr/>
        </p:nvSpPr>
        <p:spPr>
          <a:xfrm>
            <a:off x="4800600" y="3739896"/>
            <a:ext cx="6675120" cy="292608"/>
          </a:xfrm>
          <a:prstGeom prst="rect">
            <a:avLst/>
          </a:prstGeom>
          <a:noFill/>
        </p:spPr>
        <p:txBody>
          <a:bodyPr wrap="square" lIns="0" rIns="0" tIns="0" bIns="0" anchor="t">
            <a:spAutoFit/>
          </a:bodyPr>
          <a:lstStyle/>
          <a:p>
            <a:pPr algn="l">
              <a:lnSpc>
                <a:spcPct val="115000"/>
              </a:lnSpc>
            </a:pPr>
            <a:r>
              <a:rPr sz="1100" b="0">
                <a:solidFill>
                  <a:srgbClr val="CBD5E1"/>
                </a:solidFill>
                <a:latin typeface="Helvetica"/>
              </a:rPr>
              <a:t>What went well, what felt off, what surprised you.</a:t>
            </a:r>
          </a:p>
        </p:txBody>
      </p:sp>
      <p:sp>
        <p:nvSpPr>
          <p:cNvPr id="18" name="TextBox 17"/>
          <p:cNvSpPr txBox="1"/>
          <p:nvPr/>
        </p:nvSpPr>
        <p:spPr>
          <a:xfrm>
            <a:off x="4297680" y="4032504"/>
            <a:ext cx="457200" cy="502920"/>
          </a:xfrm>
          <a:prstGeom prst="rect">
            <a:avLst/>
          </a:prstGeom>
          <a:noFill/>
        </p:spPr>
        <p:txBody>
          <a:bodyPr wrap="square" lIns="0" rIns="0" tIns="0" bIns="0" anchor="t">
            <a:spAutoFit/>
          </a:bodyPr>
          <a:lstStyle/>
          <a:p>
            <a:pPr algn="l">
              <a:lnSpc>
                <a:spcPct val="115000"/>
              </a:lnSpc>
            </a:pPr>
            <a:r>
              <a:rPr sz="1600" b="1">
                <a:solidFill>
                  <a:srgbClr val="F26A1F"/>
                </a:solidFill>
                <a:latin typeface="Helvetica"/>
              </a:rPr>
              <a:t>04</a:t>
            </a:r>
          </a:p>
        </p:txBody>
      </p:sp>
      <p:sp>
        <p:nvSpPr>
          <p:cNvPr id="19" name="TextBox 18"/>
          <p:cNvSpPr txBox="1"/>
          <p:nvPr/>
        </p:nvSpPr>
        <p:spPr>
          <a:xfrm>
            <a:off x="4800600" y="4032504"/>
            <a:ext cx="6675120" cy="292608"/>
          </a:xfrm>
          <a:prstGeom prst="rect">
            <a:avLst/>
          </a:prstGeom>
          <a:noFill/>
        </p:spPr>
        <p:txBody>
          <a:bodyPr wrap="square" lIns="0" rIns="0" tIns="0" bIns="0" anchor="t">
            <a:spAutoFit/>
          </a:bodyPr>
          <a:lstStyle/>
          <a:p>
            <a:pPr algn="l">
              <a:lnSpc>
                <a:spcPct val="115000"/>
              </a:lnSpc>
            </a:pPr>
            <a:r>
              <a:rPr sz="1400" b="1">
                <a:solidFill>
                  <a:srgbClr val="FFFFFF"/>
                </a:solidFill>
                <a:latin typeface="Helvetica"/>
              </a:rPr>
              <a:t>Log the next step</a:t>
            </a:r>
          </a:p>
        </p:txBody>
      </p:sp>
      <p:sp>
        <p:nvSpPr>
          <p:cNvPr id="20" name="TextBox 19"/>
          <p:cNvSpPr txBox="1"/>
          <p:nvPr/>
        </p:nvSpPr>
        <p:spPr>
          <a:xfrm>
            <a:off x="4800600" y="4306824"/>
            <a:ext cx="6675120" cy="292608"/>
          </a:xfrm>
          <a:prstGeom prst="rect">
            <a:avLst/>
          </a:prstGeom>
          <a:noFill/>
        </p:spPr>
        <p:txBody>
          <a:bodyPr wrap="square" lIns="0" rIns="0" tIns="0" bIns="0" anchor="t">
            <a:spAutoFit/>
          </a:bodyPr>
          <a:lstStyle/>
          <a:p>
            <a:pPr algn="l">
              <a:lnSpc>
                <a:spcPct val="115000"/>
              </a:lnSpc>
            </a:pPr>
            <a:r>
              <a:rPr sz="1100" b="0">
                <a:solidFill>
                  <a:srgbClr val="CBD5E1"/>
                </a:solidFill>
                <a:latin typeface="Helvetica"/>
              </a:rPr>
              <a:t>Every conversation ends with one clear next action.</a:t>
            </a:r>
          </a:p>
        </p:txBody>
      </p:sp>
      <p:sp>
        <p:nvSpPr>
          <p:cNvPr id="21" name="TextBox 20"/>
          <p:cNvSpPr txBox="1"/>
          <p:nvPr/>
        </p:nvSpPr>
        <p:spPr>
          <a:xfrm>
            <a:off x="4297680" y="4599432"/>
            <a:ext cx="457200" cy="502920"/>
          </a:xfrm>
          <a:prstGeom prst="rect">
            <a:avLst/>
          </a:prstGeom>
          <a:noFill/>
        </p:spPr>
        <p:txBody>
          <a:bodyPr wrap="square" lIns="0" rIns="0" tIns="0" bIns="0" anchor="t">
            <a:spAutoFit/>
          </a:bodyPr>
          <a:lstStyle/>
          <a:p>
            <a:pPr algn="l">
              <a:lnSpc>
                <a:spcPct val="115000"/>
              </a:lnSpc>
            </a:pPr>
            <a:r>
              <a:rPr sz="1600" b="1">
                <a:solidFill>
                  <a:srgbClr val="F26A1F"/>
                </a:solidFill>
                <a:latin typeface="Helvetica"/>
              </a:rPr>
              <a:t>05</a:t>
            </a:r>
          </a:p>
        </p:txBody>
      </p:sp>
      <p:sp>
        <p:nvSpPr>
          <p:cNvPr id="22" name="TextBox 21"/>
          <p:cNvSpPr txBox="1"/>
          <p:nvPr/>
        </p:nvSpPr>
        <p:spPr>
          <a:xfrm>
            <a:off x="4800600" y="4599432"/>
            <a:ext cx="6675120" cy="292608"/>
          </a:xfrm>
          <a:prstGeom prst="rect">
            <a:avLst/>
          </a:prstGeom>
          <a:noFill/>
        </p:spPr>
        <p:txBody>
          <a:bodyPr wrap="square" lIns="0" rIns="0" tIns="0" bIns="0" anchor="t">
            <a:spAutoFit/>
          </a:bodyPr>
          <a:lstStyle/>
          <a:p>
            <a:pPr algn="l">
              <a:lnSpc>
                <a:spcPct val="115000"/>
              </a:lnSpc>
            </a:pPr>
            <a:r>
              <a:rPr sz="1400" b="1">
                <a:solidFill>
                  <a:srgbClr val="FFFFFF"/>
                </a:solidFill>
                <a:latin typeface="Helvetica"/>
              </a:rPr>
              <a:t>Bring one lesson back</a:t>
            </a:r>
          </a:p>
        </p:txBody>
      </p:sp>
      <p:sp>
        <p:nvSpPr>
          <p:cNvPr id="23" name="TextBox 22"/>
          <p:cNvSpPr txBox="1"/>
          <p:nvPr/>
        </p:nvSpPr>
        <p:spPr>
          <a:xfrm>
            <a:off x="4800600" y="4873752"/>
            <a:ext cx="6675120" cy="292608"/>
          </a:xfrm>
          <a:prstGeom prst="rect">
            <a:avLst/>
          </a:prstGeom>
          <a:noFill/>
        </p:spPr>
        <p:txBody>
          <a:bodyPr wrap="square" lIns="0" rIns="0" tIns="0" bIns="0" anchor="t">
            <a:spAutoFit/>
          </a:bodyPr>
          <a:lstStyle/>
          <a:p>
            <a:pPr algn="l">
              <a:lnSpc>
                <a:spcPct val="115000"/>
              </a:lnSpc>
            </a:pPr>
            <a:r>
              <a:rPr sz="1100" b="0">
                <a:solidFill>
                  <a:srgbClr val="CBD5E1"/>
                </a:solidFill>
                <a:latin typeface="Helvetica"/>
              </a:rPr>
              <a:t>Share one thing you learned with the group next session.</a:t>
            </a:r>
          </a:p>
        </p:txBody>
      </p:sp>
      <p:sp>
        <p:nvSpPr>
          <p:cNvPr id="24" name="Rounded Rectangle 23"/>
          <p:cNvSpPr/>
          <p:nvPr/>
        </p:nvSpPr>
        <p:spPr>
          <a:xfrm>
            <a:off x="731520" y="5532120"/>
            <a:ext cx="10698480" cy="777240"/>
          </a:xfrm>
          <a:prstGeom prst="roundRect">
            <a:avLst>
              <a:gd name="adj" fmla="val 4000"/>
            </a:avLst>
          </a:prstGeom>
          <a:solidFill>
            <a:srgbClr val="F26A1F"/>
          </a:solidFill>
          <a:ln w="9525">
            <a:solidFill>
              <a:srgbClr val="F26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596128"/>
            <a:ext cx="10424160" cy="320040"/>
          </a:xfrm>
          <a:prstGeom prst="rect">
            <a:avLst/>
          </a:prstGeom>
          <a:noFill/>
        </p:spPr>
        <p:txBody>
          <a:bodyPr wrap="square" lIns="0" rIns="0" tIns="0" bIns="0" anchor="t">
            <a:spAutoFit/>
          </a:bodyPr>
          <a:lstStyle/>
          <a:p>
            <a:pPr algn="l">
              <a:lnSpc>
                <a:spcPct val="115000"/>
              </a:lnSpc>
            </a:pPr>
            <a:r>
              <a:rPr sz="1100" b="1">
                <a:solidFill>
                  <a:srgbClr val="FFFFFF"/>
                </a:solidFill>
                <a:latin typeface="Helvetica"/>
              </a:rPr>
              <a:t>CLOSE</a:t>
            </a:r>
          </a:p>
        </p:txBody>
      </p:sp>
      <p:sp>
        <p:nvSpPr>
          <p:cNvPr id="26" name="TextBox 25"/>
          <p:cNvSpPr txBox="1"/>
          <p:nvPr/>
        </p:nvSpPr>
        <p:spPr>
          <a:xfrm>
            <a:off x="914400" y="5870448"/>
            <a:ext cx="10424160" cy="457200"/>
          </a:xfrm>
          <a:prstGeom prst="rect">
            <a:avLst/>
          </a:prstGeom>
          <a:noFill/>
        </p:spPr>
        <p:txBody>
          <a:bodyPr wrap="square" lIns="0" rIns="0" tIns="0" bIns="0" anchor="t">
            <a:spAutoFit/>
          </a:bodyPr>
          <a:lstStyle/>
          <a:p>
            <a:pPr algn="l">
              <a:lnSpc>
                <a:spcPct val="115000"/>
              </a:lnSpc>
            </a:pPr>
            <a:r>
              <a:rPr sz="1400" b="1">
                <a:solidFill>
                  <a:srgbClr val="FFFFFF"/>
                </a:solidFill>
                <a:latin typeface="Helvetica"/>
              </a:rPr>
              <a:t>One clean conversation. One clear next step. One tracked activity at a time.</a:t>
            </a:r>
          </a:p>
        </p:txBody>
      </p:sp>
      <p:sp>
        <p:nvSpPr>
          <p:cNvPr id="27" name="TextBox 26"/>
          <p:cNvSpPr txBox="1"/>
          <p:nvPr/>
        </p:nvSpPr>
        <p:spPr>
          <a:xfrm>
            <a:off x="457200" y="6446520"/>
            <a:ext cx="11277295" cy="320040"/>
          </a:xfrm>
          <a:prstGeom prst="rect">
            <a:avLst/>
          </a:prstGeom>
          <a:noFill/>
        </p:spPr>
        <p:txBody>
          <a:bodyPr wrap="none" lIns="0" rIns="0" tIns="0" bIns="0">
            <a:spAutoFit/>
          </a:bodyPr>
          <a:lstStyle/>
          <a:p>
            <a:pPr algn="l"/>
            <a:r>
              <a:rPr sz="900">
                <a:solidFill>
                  <a:srgbClr val="FFFFFF"/>
                </a:solidFill>
                <a:latin typeface="Helvetica"/>
              </a:rPr>
              <a:t>Elite Sales and Marketing Training 101  |  Mortgage Sales Foundation  |  Internal training only</a:t>
            </a:r>
          </a:p>
        </p:txBody>
      </p:sp>
      <p:sp>
        <p:nvSpPr>
          <p:cNvPr id="28" name="TextBox 27"/>
          <p:cNvSpPr txBox="1"/>
          <p:nvPr/>
        </p:nvSpPr>
        <p:spPr>
          <a:xfrm>
            <a:off x="10789920" y="6446520"/>
            <a:ext cx="1371600" cy="320040"/>
          </a:xfrm>
          <a:prstGeom prst="rect">
            <a:avLst/>
          </a:prstGeom>
          <a:noFill/>
        </p:spPr>
        <p:txBody>
          <a:bodyPr wrap="none" lIns="0" rIns="0" tIns="0" bIns="0">
            <a:spAutoFit/>
          </a:bodyPr>
          <a:lstStyle/>
          <a:p>
            <a:pPr algn="r"/>
            <a: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